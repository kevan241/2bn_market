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7" r:id="rId2"/>
    <p:sldId id="263" r:id="rId3"/>
    <p:sldId id="257" r:id="rId4"/>
    <p:sldId id="268" r:id="rId5"/>
    <p:sldId id="265" r:id="rId6"/>
    <p:sldId id="260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837"/>
    <a:srgbClr val="D1EBDC"/>
    <a:srgbClr val="62BD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7016" autoAdjust="0"/>
  </p:normalViewPr>
  <p:slideViewPr>
    <p:cSldViewPr snapToGrid="0">
      <p:cViewPr varScale="1">
        <p:scale>
          <a:sx n="63" d="100"/>
          <a:sy n="63" d="100"/>
        </p:scale>
        <p:origin x="10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073A7D-E0B5-451B-9B63-16D7D1882F68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91E78-6A5B-4D56-A2A7-6DAA2DC8D3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7230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91E78-6A5B-4D56-A2A7-6DAA2DC8D3C6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6928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91E78-6A5B-4D56-A2A7-6DAA2DC8D3C6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83267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91E78-6A5B-4D56-A2A7-6DAA2DC8D3C6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6580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F91E78-6A5B-4D56-A2A7-6DAA2DC8D3C6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1937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88C982-7B1A-182A-C7A5-11ED463DAC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D0647C4-7885-6A04-94EC-DA2138AE2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7AA70CA-74B6-54E7-2E35-E458E3226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22529-7A02-4253-9539-A7AEC5E68CBB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5E77866-10E6-E95C-6EBB-084396958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EDB143-1520-956A-AACA-21E4ED97F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F1DD3-7498-47D3-9724-B688387FA3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137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D0299E-9ED8-8693-556A-5473A78B7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A2D00C-89AE-87F2-4D65-8ABB94601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43C08E3-ED99-FE7D-B80A-5259F7C13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22529-7A02-4253-9539-A7AEC5E68CBB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33C6CAB-1434-5C29-65CF-7BDE35246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7EC011-4D02-F1CF-65DF-A64B8B549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F1DD3-7498-47D3-9724-B688387FA3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1306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526304-7743-AC3F-AE2E-FAA21C86F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476D60A-67E4-52E2-C377-35D8C040E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44B4E1-B264-BD7D-7EF8-101057E1D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22529-7A02-4253-9539-A7AEC5E68CBB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91BCE35-5535-9026-7D4F-86E0E19C3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60B429-5591-FB56-FD62-58F34C0B5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F1DD3-7498-47D3-9724-B688387FA3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194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5FC3BB-3531-FBBC-DB5C-E16C1C457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3CA50D-EB71-DE5F-FD3F-4D4B739198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DCE3BDE-402E-3834-AD9E-AE5FFE623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4C898C6-1BEF-6164-3C53-4B13B363E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22529-7A02-4253-9539-A7AEC5E68CBB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1952C14-0449-D371-E53A-28D5CF3EC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A630988-DE61-7CD5-BD55-89471A2DC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F1DD3-7498-47D3-9724-B688387FA3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8801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F2479B-182E-119E-E2C3-792F54ABC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3058F62-8888-41B9-9E05-EE02C4B11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A978094-01E7-8C60-314B-19BCA9A9C8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3ED8CAF-CB80-ACD2-EEAC-A187BDC46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DA034EA-18D3-1DC3-E84F-BB7F83CE50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6796BD4-0C34-A2C1-902D-0A70F7A33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22529-7A02-4253-9539-A7AEC5E68CBB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4265C65-1816-4403-3F55-039C29E38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CC22AA0-B6F5-D9BB-C175-0ECCF7E49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F1DD3-7498-47D3-9724-B688387FA3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8985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A8225C-3D6E-6F06-8319-DD6BCA209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F25D1DD-F532-240A-B9B7-EAF1CBC78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22529-7A02-4253-9539-A7AEC5E68CBB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4738FF0-F08F-F08C-2993-21FB5166A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5099078-82E4-CC33-81D1-87C9C172E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F1DD3-7498-47D3-9724-B688387FA3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012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39C4DD8-180A-2588-BCFB-600BF204B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22529-7A02-4253-9539-A7AEC5E68CBB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358618-D253-09DC-C226-A39587767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4632494-4E0D-EC62-74CC-9EE7B8ACD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F1DD3-7498-47D3-9724-B688387FA3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5328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CBC53F-14F4-3B5F-F936-1B21BBC94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F67050-FE8E-D9DE-D68B-DBD739DB0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208DF9F-1FBC-7434-8617-D09D86B3B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4840E4C-E72A-A0E3-2818-26EF21F31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22529-7A02-4253-9539-A7AEC5E68CBB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86B9337-07FA-366E-240C-8775124A6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E6E4922-EA0A-D654-65E8-4FA5807B6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F1DD3-7498-47D3-9724-B688387FA3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8030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21798F-894D-FFDD-7617-D637EF605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FBCCEED-F4E3-96E7-D8E5-D05F28837C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2F5D27E-4925-68A1-1753-CB3F42B588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1B645DB-AC46-5BF8-63BC-B32E16E93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22529-7A02-4253-9539-A7AEC5E68CBB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9131615-64FA-3F5C-04A1-C3B164F0C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F08D329-E6AE-9E13-655B-CC0D73A53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F1DD3-7498-47D3-9724-B688387FA3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7423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B5B03F-609D-F029-119B-BEF191A52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0D711E1-FF08-1CCB-E7E7-122700CA06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4C462E-18FD-4681-6339-7CE0C2575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22529-7A02-4253-9539-A7AEC5E68CBB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513329-BF66-F377-E185-7627A5747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705D194-4C05-3CD2-4A50-5CEF66044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F1DD3-7498-47D3-9724-B688387FA3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3922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F749FCC-0D88-271D-4581-FC9F04EEDE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ABCBDCC-038D-D0F5-A809-C8F6791D9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464FE3A-4394-36D4-95C3-7CBD61148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22529-7A02-4253-9539-A7AEC5E68CBB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D550C6E-3896-D688-12D8-A793FBB15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98C971-72DC-DF43-E411-5590F8043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F1DD3-7498-47D3-9724-B688387FA3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436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E6C7537-AF62-ED93-54F9-40ECD3612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8C48A34-374D-7CC5-98B1-78735BD65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5B81B7-A323-00DE-BABD-9A5C8876BD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922529-7A02-4253-9539-A7AEC5E68CBB}" type="datetimeFigureOut">
              <a:rPr lang="fr-FR" smtClean="0"/>
              <a:t>30/08/2023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B2D390E-DB28-02BA-D894-E8324F437B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DECD177-5CFE-8AFF-C91B-D78FF0363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F1DD3-7498-47D3-9724-B688387FA3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4998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-gestion-de-projet.com/docs/kit-management-projet/planification/diagramme-de-pert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E7IcXOwG_Q&amp;t=4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E7IcXOwG_Q&amp;t=4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E7IcXOwG_Q&amp;t=4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E7IcXOwG_Q&amp;t=4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iE7IcXOwG_Q&amp;t=4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iE7IcXOwG_Q&amp;t=4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96DDFB-94B3-1DC8-234E-2D995FDD2430}"/>
              </a:ext>
            </a:extLst>
          </p:cNvPr>
          <p:cNvSpPr/>
          <p:nvPr/>
        </p:nvSpPr>
        <p:spPr>
          <a:xfrm>
            <a:off x="0" y="2392680"/>
            <a:ext cx="12192000" cy="20726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673F92A-8B01-4F81-1749-0CE743C9E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880" y="2681605"/>
            <a:ext cx="10515600" cy="1783715"/>
          </a:xfrm>
        </p:spPr>
        <p:txBody>
          <a:bodyPr>
            <a:normAutofit/>
          </a:bodyPr>
          <a:lstStyle/>
          <a:p>
            <a:pPr algn="ctr"/>
            <a:r>
              <a:rPr lang="fr-FR" sz="4000" b="1" dirty="0">
                <a:solidFill>
                  <a:srgbClr val="004837"/>
                </a:solidFill>
                <a:latin typeface="Century Gothic" panose="020B0502020202020204" pitchFamily="34" charset="0"/>
              </a:rPr>
              <a:t>Comment créer un diagramme de PERT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827B047-37F5-1E3D-58A4-CCC72A9C2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938" y="252613"/>
            <a:ext cx="3175724" cy="1028934"/>
          </a:xfrm>
          <a:prstGeom prst="rect">
            <a:avLst/>
          </a:prstGeom>
        </p:spPr>
      </p:pic>
      <p:sp>
        <p:nvSpPr>
          <p:cNvPr id="7" name="Rectangle 5">
            <a:hlinkClick r:id="rId3"/>
            <a:extLst>
              <a:ext uri="{FF2B5EF4-FFF2-40B4-BE49-F238E27FC236}">
                <a16:creationId xmlns:a16="http://schemas.microsoft.com/office/drawing/2014/main" id="{37546F84-EFEC-0714-5EA1-88226F923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6240" y="5760720"/>
            <a:ext cx="3693161" cy="550887"/>
          </a:xfrm>
          <a:prstGeom prst="round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vert="horz" wrap="square" lIns="182880" tIns="45720" rIns="182880" bIns="45720" anchor="ctr" anchorCtr="0" upright="1">
            <a:noAutofit/>
          </a:bodyPr>
          <a:lstStyle/>
          <a:p>
            <a:pPr algn="ctr"/>
            <a:r>
              <a:rPr lang="fr-BE" sz="2000" b="1">
                <a:solidFill>
                  <a:srgbClr val="FFFFFF"/>
                </a:solidFill>
                <a:effectLst/>
                <a:latin typeface="Candara" panose="020E0502030303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Lire le guide d'utilisation</a:t>
            </a:r>
            <a:endParaRPr lang="fr-FR" sz="2800"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535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61E7A8CF-AA4B-4035-7E1B-D8E638F219D0}"/>
              </a:ext>
            </a:extLst>
          </p:cNvPr>
          <p:cNvGrpSpPr/>
          <p:nvPr/>
        </p:nvGrpSpPr>
        <p:grpSpPr>
          <a:xfrm>
            <a:off x="892491" y="2248529"/>
            <a:ext cx="6072373" cy="1891465"/>
            <a:chOff x="1116011" y="1903089"/>
            <a:chExt cx="6072373" cy="1891465"/>
          </a:xfrm>
        </p:grpSpPr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4D328068-AF12-A14B-B662-5574B4C8DD97}"/>
                </a:ext>
              </a:extLst>
            </p:cNvPr>
            <p:cNvSpPr/>
            <p:nvPr/>
          </p:nvSpPr>
          <p:spPr>
            <a:xfrm>
              <a:off x="1116011" y="1903089"/>
              <a:ext cx="1300163" cy="122872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6" name="Connecteur droit 5">
              <a:extLst>
                <a:ext uri="{FF2B5EF4-FFF2-40B4-BE49-F238E27FC236}">
                  <a16:creationId xmlns:a16="http://schemas.microsoft.com/office/drawing/2014/main" id="{A6DAAE84-2608-B043-A56A-085C89EAB4A4}"/>
                </a:ext>
              </a:extLst>
            </p:cNvPr>
            <p:cNvCxnSpPr>
              <a:cxnSpLocks/>
              <a:stCxn id="4" idx="2"/>
              <a:endCxn id="4" idx="6"/>
            </p:cNvCxnSpPr>
            <p:nvPr/>
          </p:nvCxnSpPr>
          <p:spPr>
            <a:xfrm>
              <a:off x="1116011" y="2517452"/>
              <a:ext cx="130016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706570B9-27F1-9C47-88F3-033FF1D3E3CC}"/>
                </a:ext>
              </a:extLst>
            </p:cNvPr>
            <p:cNvCxnSpPr>
              <a:endCxn id="4" idx="4"/>
            </p:cNvCxnSpPr>
            <p:nvPr/>
          </p:nvCxnSpPr>
          <p:spPr>
            <a:xfrm>
              <a:off x="1766092" y="2517451"/>
              <a:ext cx="1" cy="614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76585534-7136-5541-9208-9896BAB2D5C9}"/>
                </a:ext>
              </a:extLst>
            </p:cNvPr>
            <p:cNvSpPr txBox="1"/>
            <p:nvPr/>
          </p:nvSpPr>
          <p:spPr>
            <a:xfrm>
              <a:off x="1183817" y="2090967"/>
              <a:ext cx="11645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N° d’étape</a:t>
              </a: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E7D824DF-B0B6-7347-8749-972029633E9F}"/>
                </a:ext>
              </a:extLst>
            </p:cNvPr>
            <p:cNvSpPr txBox="1"/>
            <p:nvPr/>
          </p:nvSpPr>
          <p:spPr>
            <a:xfrm>
              <a:off x="1158876" y="2543164"/>
              <a:ext cx="6500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/>
                <a:t>Date au plus tôt</a:t>
              </a: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F5028010-41F9-2A41-BB69-711EDA24D1F1}"/>
                </a:ext>
              </a:extLst>
            </p:cNvPr>
            <p:cNvSpPr txBox="1"/>
            <p:nvPr/>
          </p:nvSpPr>
          <p:spPr>
            <a:xfrm>
              <a:off x="1708947" y="2574606"/>
              <a:ext cx="6500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/>
                <a:t>Date au plus tard</a:t>
              </a:r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9A6BF47C-C674-C448-8347-C5EFF39ACF2C}"/>
                </a:ext>
              </a:extLst>
            </p:cNvPr>
            <p:cNvSpPr/>
            <p:nvPr/>
          </p:nvSpPr>
          <p:spPr>
            <a:xfrm>
              <a:off x="4668848" y="1903089"/>
              <a:ext cx="1300163" cy="122872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AB4F64DD-0725-844B-81C6-C8145379A03F}"/>
                </a:ext>
              </a:extLst>
            </p:cNvPr>
            <p:cNvCxnSpPr>
              <a:cxnSpLocks/>
              <a:stCxn id="15" idx="2"/>
              <a:endCxn id="15" idx="6"/>
            </p:cNvCxnSpPr>
            <p:nvPr/>
          </p:nvCxnSpPr>
          <p:spPr>
            <a:xfrm>
              <a:off x="4668848" y="2517452"/>
              <a:ext cx="130016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A1143D99-66EA-0142-B60B-B25D6F6918C0}"/>
                </a:ext>
              </a:extLst>
            </p:cNvPr>
            <p:cNvCxnSpPr>
              <a:endCxn id="15" idx="4"/>
            </p:cNvCxnSpPr>
            <p:nvPr/>
          </p:nvCxnSpPr>
          <p:spPr>
            <a:xfrm>
              <a:off x="5318929" y="2517451"/>
              <a:ext cx="1" cy="614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07533130-AE30-EA41-92CF-CC16FD29BB6C}"/>
                </a:ext>
              </a:extLst>
            </p:cNvPr>
            <p:cNvSpPr txBox="1"/>
            <p:nvPr/>
          </p:nvSpPr>
          <p:spPr>
            <a:xfrm>
              <a:off x="4736654" y="2090967"/>
              <a:ext cx="11645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N° d’étape</a:t>
              </a: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234C4862-E9E9-F344-93BD-5D3962AEA8FB}"/>
                </a:ext>
              </a:extLst>
            </p:cNvPr>
            <p:cNvSpPr txBox="1"/>
            <p:nvPr/>
          </p:nvSpPr>
          <p:spPr>
            <a:xfrm>
              <a:off x="4711713" y="2543164"/>
              <a:ext cx="6500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/>
                <a:t>Date au plus tôt</a:t>
              </a:r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8DBF637B-0C0C-5E4E-B330-A3C49856F154}"/>
                </a:ext>
              </a:extLst>
            </p:cNvPr>
            <p:cNvSpPr txBox="1"/>
            <p:nvPr/>
          </p:nvSpPr>
          <p:spPr>
            <a:xfrm>
              <a:off x="5261784" y="2574606"/>
              <a:ext cx="6500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/>
                <a:t>Date au plus tard</a:t>
              </a:r>
            </a:p>
          </p:txBody>
        </p:sp>
        <p:cxnSp>
          <p:nvCxnSpPr>
            <p:cNvPr id="21" name="Connecteur droit avec flèche 20">
              <a:extLst>
                <a:ext uri="{FF2B5EF4-FFF2-40B4-BE49-F238E27FC236}">
                  <a16:creationId xmlns:a16="http://schemas.microsoft.com/office/drawing/2014/main" id="{9252B9A7-0C8E-D64D-A42E-2116046D9D92}"/>
                </a:ext>
              </a:extLst>
            </p:cNvPr>
            <p:cNvCxnSpPr>
              <a:stCxn id="4" idx="6"/>
              <a:endCxn id="15" idx="2"/>
            </p:cNvCxnSpPr>
            <p:nvPr/>
          </p:nvCxnSpPr>
          <p:spPr>
            <a:xfrm>
              <a:off x="2416174" y="2517452"/>
              <a:ext cx="225267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913BD15C-CEF6-4646-A223-C0D836E96CE4}"/>
                </a:ext>
              </a:extLst>
            </p:cNvPr>
            <p:cNvSpPr txBox="1"/>
            <p:nvPr/>
          </p:nvSpPr>
          <p:spPr>
            <a:xfrm>
              <a:off x="3244993" y="2234905"/>
              <a:ext cx="595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latin typeface="Book Antiqua" panose="02040602050305030304" pitchFamily="18" charset="0"/>
                </a:rPr>
                <a:t>A30</a:t>
              </a:r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E9D490C5-129A-A641-A715-B11445A756D0}"/>
                </a:ext>
              </a:extLst>
            </p:cNvPr>
            <p:cNvSpPr txBox="1"/>
            <p:nvPr/>
          </p:nvSpPr>
          <p:spPr>
            <a:xfrm>
              <a:off x="3985263" y="3486777"/>
              <a:ext cx="32031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i="1" dirty="0">
                  <a:latin typeface="Book Antiqua" panose="02040602050305030304" pitchFamily="18" charset="0"/>
                </a:rPr>
                <a:t>Identifiant + durée de tâche (par exemple)</a:t>
              </a:r>
            </a:p>
          </p:txBody>
        </p:sp>
        <p:cxnSp>
          <p:nvCxnSpPr>
            <p:cNvPr id="25" name="Connecteur en angle 24">
              <a:extLst>
                <a:ext uri="{FF2B5EF4-FFF2-40B4-BE49-F238E27FC236}">
                  <a16:creationId xmlns:a16="http://schemas.microsoft.com/office/drawing/2014/main" id="{2B657C8F-5328-8F49-BECA-49772A73B456}"/>
                </a:ext>
              </a:extLst>
            </p:cNvPr>
            <p:cNvCxnSpPr>
              <a:stCxn id="22" idx="2"/>
              <a:endCxn id="23" idx="1"/>
            </p:cNvCxnSpPr>
            <p:nvPr/>
          </p:nvCxnSpPr>
          <p:spPr>
            <a:xfrm rot="16200000" flipH="1">
              <a:off x="3245673" y="2901075"/>
              <a:ext cx="1036429" cy="442752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ZoneTexte 2">
            <a:extLst>
              <a:ext uri="{FF2B5EF4-FFF2-40B4-BE49-F238E27FC236}">
                <a16:creationId xmlns:a16="http://schemas.microsoft.com/office/drawing/2014/main" id="{D097AFA6-3DE6-2EA4-AFAD-A36A36ECA92C}"/>
              </a:ext>
            </a:extLst>
          </p:cNvPr>
          <p:cNvSpPr txBox="1"/>
          <p:nvPr/>
        </p:nvSpPr>
        <p:spPr>
          <a:xfrm>
            <a:off x="7294880" y="1413063"/>
            <a:ext cx="443959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latin typeface="Century Gothic" panose="020B0502020202020204" pitchFamily="34" charset="0"/>
              </a:rPr>
              <a:t>Avant de dessiner le réseau PERT, voici les règles de notation à connaitre :</a:t>
            </a:r>
          </a:p>
          <a:p>
            <a:endParaRPr lang="fr-FR" sz="1400" b="1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>
                <a:latin typeface="Century Gothic" panose="020B0502020202020204" pitchFamily="34" charset="0"/>
              </a:rPr>
              <a:t>Etapes</a:t>
            </a:r>
            <a:r>
              <a:rPr lang="fr-FR" sz="1400" dirty="0">
                <a:latin typeface="Century Gothic" panose="020B0502020202020204" pitchFamily="34" charset="0"/>
              </a:rPr>
              <a:t> sont représentées par des </a:t>
            </a:r>
            <a:r>
              <a:rPr lang="fr-FR" sz="1400" b="1" dirty="0">
                <a:latin typeface="Century Gothic" panose="020B0502020202020204" pitchFamily="34" charset="0"/>
              </a:rPr>
              <a:t>cercles</a:t>
            </a:r>
            <a:r>
              <a:rPr lang="fr-FR" sz="1400" dirty="0">
                <a:latin typeface="Century Gothic" panose="020B0502020202020204" pitchFamily="34" charset="0"/>
              </a:rPr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>
                <a:latin typeface="Century Gothic" panose="020B0502020202020204" pitchFamily="34" charset="0"/>
              </a:rPr>
              <a:t>Tâches</a:t>
            </a:r>
            <a:r>
              <a:rPr lang="fr-FR" sz="1400" dirty="0">
                <a:latin typeface="Century Gothic" panose="020B0502020202020204" pitchFamily="34" charset="0"/>
              </a:rPr>
              <a:t> sont représentées par des </a:t>
            </a:r>
            <a:r>
              <a:rPr lang="fr-FR" sz="1400" b="1" dirty="0">
                <a:latin typeface="Century Gothic" panose="020B0502020202020204" pitchFamily="34" charset="0"/>
              </a:rPr>
              <a:t>flèches</a:t>
            </a:r>
            <a:r>
              <a:rPr lang="fr-FR" sz="1400" dirty="0">
                <a:latin typeface="Century Gothic" panose="020B0502020202020204" pitchFamily="34" charset="0"/>
              </a:rPr>
              <a:t> pour atteindre ces étapes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latin typeface="Century Gothic" panose="020B0502020202020204" pitchFamily="34" charset="0"/>
              </a:rPr>
              <a:t>Le </a:t>
            </a:r>
            <a:r>
              <a:rPr lang="fr-FR" sz="1400" b="1" dirty="0">
                <a:latin typeface="Century Gothic" panose="020B0502020202020204" pitchFamily="34" charset="0"/>
              </a:rPr>
              <a:t>début de la tâche </a:t>
            </a:r>
            <a:r>
              <a:rPr lang="fr-FR" sz="1400" dirty="0">
                <a:latin typeface="Century Gothic" panose="020B0502020202020204" pitchFamily="34" charset="0"/>
              </a:rPr>
              <a:t>est exprimé par l’extrémité de la flèche à </a:t>
            </a:r>
            <a:r>
              <a:rPr lang="fr-FR" sz="1400" b="1" dirty="0">
                <a:latin typeface="Century Gothic" panose="020B0502020202020204" pitchFamily="34" charset="0"/>
              </a:rPr>
              <a:t>gauche</a:t>
            </a:r>
            <a:r>
              <a:rPr lang="fr-FR" sz="1400" dirty="0">
                <a:latin typeface="Century Gothic" panose="020B050202020202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latin typeface="Century Gothic" panose="020B0502020202020204" pitchFamily="34" charset="0"/>
              </a:rPr>
              <a:t>La </a:t>
            </a:r>
            <a:r>
              <a:rPr lang="fr-FR" sz="1400" b="1" dirty="0">
                <a:latin typeface="Century Gothic" panose="020B0502020202020204" pitchFamily="34" charset="0"/>
              </a:rPr>
              <a:t>fin de la tâche </a:t>
            </a:r>
            <a:r>
              <a:rPr lang="fr-FR" sz="1400" dirty="0">
                <a:latin typeface="Century Gothic" panose="020B0502020202020204" pitchFamily="34" charset="0"/>
              </a:rPr>
              <a:t>par l’extrémité de la flèche à </a:t>
            </a:r>
            <a:r>
              <a:rPr lang="fr-FR" sz="1400" b="1" dirty="0">
                <a:latin typeface="Century Gothic" panose="020B0502020202020204" pitchFamily="34" charset="0"/>
              </a:rPr>
              <a:t>droite</a:t>
            </a:r>
            <a:endParaRPr lang="fr-FR" sz="1400" dirty="0">
              <a:latin typeface="Century Gothic" panose="020B0502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latin typeface="Century Gothic" panose="020B0502020202020204" pitchFamily="34" charset="0"/>
              </a:rPr>
              <a:t>Chaque </a:t>
            </a:r>
            <a:r>
              <a:rPr lang="fr-FR" sz="1400" b="1" dirty="0">
                <a:latin typeface="Century Gothic" panose="020B0502020202020204" pitchFamily="34" charset="0"/>
              </a:rPr>
              <a:t>étape</a:t>
            </a:r>
            <a:r>
              <a:rPr lang="fr-FR" sz="1400" dirty="0">
                <a:latin typeface="Century Gothic" panose="020B0502020202020204" pitchFamily="34" charset="0"/>
              </a:rPr>
              <a:t>, représentée par un cercle, contient une </a:t>
            </a:r>
            <a:r>
              <a:rPr lang="fr-FR" sz="1400" b="1" dirty="0">
                <a:latin typeface="Century Gothic" panose="020B0502020202020204" pitchFamily="34" charset="0"/>
              </a:rPr>
              <a:t>date</a:t>
            </a:r>
            <a:r>
              <a:rPr lang="fr-FR" sz="1400" dirty="0">
                <a:latin typeface="Century Gothic" panose="020B0502020202020204" pitchFamily="34" charset="0"/>
              </a:rPr>
              <a:t> de commencement </a:t>
            </a:r>
            <a:r>
              <a:rPr lang="fr-FR" sz="1400" b="1" dirty="0">
                <a:latin typeface="Century Gothic" panose="020B0502020202020204" pitchFamily="34" charset="0"/>
              </a:rPr>
              <a:t>au plus tôt</a:t>
            </a:r>
            <a:r>
              <a:rPr lang="fr-FR" sz="1400" dirty="0">
                <a:latin typeface="Century Gothic" panose="020B0502020202020204" pitchFamily="34" charset="0"/>
              </a:rPr>
              <a:t> et une </a:t>
            </a:r>
            <a:r>
              <a:rPr lang="fr-FR" sz="1400" b="1" dirty="0">
                <a:latin typeface="Century Gothic" panose="020B0502020202020204" pitchFamily="34" charset="0"/>
              </a:rPr>
              <a:t>date au plus tard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>
                <a:latin typeface="Century Gothic" panose="020B0502020202020204" pitchFamily="34" charset="0"/>
              </a:rPr>
              <a:t>Certaines tâches peuvent être parallélisées et d’autres sont dépendantes de tâches qui doivent les précéder.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399758-F53D-833B-0B72-364B6C5EB395}"/>
              </a:ext>
            </a:extLst>
          </p:cNvPr>
          <p:cNvSpPr/>
          <p:nvPr/>
        </p:nvSpPr>
        <p:spPr>
          <a:xfrm>
            <a:off x="0" y="0"/>
            <a:ext cx="12192000" cy="6502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F335DDAF-B7F3-1311-C702-8F6269868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9080" y="121600"/>
            <a:ext cx="8326120" cy="454322"/>
          </a:xfrm>
        </p:spPr>
        <p:txBody>
          <a:bodyPr>
            <a:normAutofit/>
          </a:bodyPr>
          <a:lstStyle/>
          <a:p>
            <a:pPr algn="ctr"/>
            <a:r>
              <a:rPr lang="fr-FR" sz="2400" b="1" dirty="0">
                <a:solidFill>
                  <a:srgbClr val="004837"/>
                </a:solidFill>
                <a:latin typeface="Century Gothic" panose="020B0502020202020204" pitchFamily="34" charset="0"/>
              </a:rPr>
              <a:t>1. Connaitre les règles de notation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69DA364-3AD9-13A1-CA27-5AAEBEC22295}"/>
              </a:ext>
            </a:extLst>
          </p:cNvPr>
          <p:cNvSpPr txBox="1"/>
          <p:nvPr/>
        </p:nvSpPr>
        <p:spPr>
          <a:xfrm>
            <a:off x="507494" y="6428623"/>
            <a:ext cx="9459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En savoir plus sur le diagramme PERT </a:t>
            </a:r>
            <a:r>
              <a:rPr lang="fr-FR" sz="1400" b="1" u="sng" dirty="0">
                <a:hlinkClick r:id="rId3"/>
              </a:rPr>
              <a:t>dans ce tutoriel</a:t>
            </a:r>
            <a:r>
              <a:rPr lang="fr-F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5749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2">
            <a:extLst>
              <a:ext uri="{FF2B5EF4-FFF2-40B4-BE49-F238E27FC236}">
                <a16:creationId xmlns:a16="http://schemas.microsoft.com/office/drawing/2014/main" id="{F457FFD0-78E5-4404-0412-251669E89C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4889"/>
              </p:ext>
            </p:extLst>
          </p:nvPr>
        </p:nvGraphicFramePr>
        <p:xfrm>
          <a:off x="507494" y="2267675"/>
          <a:ext cx="5908653" cy="271279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296666">
                  <a:extLst>
                    <a:ext uri="{9D8B030D-6E8A-4147-A177-3AD203B41FA5}">
                      <a16:colId xmlns:a16="http://schemas.microsoft.com/office/drawing/2014/main" val="2095251373"/>
                    </a:ext>
                  </a:extLst>
                </a:gridCol>
                <a:gridCol w="1700477">
                  <a:extLst>
                    <a:ext uri="{9D8B030D-6E8A-4147-A177-3AD203B41FA5}">
                      <a16:colId xmlns:a16="http://schemas.microsoft.com/office/drawing/2014/main" val="1546053385"/>
                    </a:ext>
                  </a:extLst>
                </a:gridCol>
                <a:gridCol w="1911510">
                  <a:extLst>
                    <a:ext uri="{9D8B030D-6E8A-4147-A177-3AD203B41FA5}">
                      <a16:colId xmlns:a16="http://schemas.microsoft.com/office/drawing/2014/main" val="766829145"/>
                    </a:ext>
                  </a:extLst>
                </a:gridCol>
              </a:tblGrid>
              <a:tr h="327364">
                <a:tc>
                  <a:txBody>
                    <a:bodyPr/>
                    <a:lstStyle/>
                    <a:p>
                      <a:pPr algn="ctr"/>
                      <a:r>
                        <a:rPr lang="fr-FR" sz="1800" dirty="0"/>
                        <a:t>Tâche</a:t>
                      </a:r>
                    </a:p>
                  </a:txBody>
                  <a:tcPr>
                    <a:solidFill>
                      <a:srgbClr val="62BD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/>
                        <a:t>Durée</a:t>
                      </a:r>
                    </a:p>
                  </a:txBody>
                  <a:tcPr>
                    <a:solidFill>
                      <a:srgbClr val="62BD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/>
                        <a:t>Prédécesseurs</a:t>
                      </a:r>
                    </a:p>
                  </a:txBody>
                  <a:tcPr>
                    <a:solidFill>
                      <a:srgbClr val="62BD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253481"/>
                  </a:ext>
                </a:extLst>
              </a:tr>
              <a:tr h="32736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/>
                        <a:t>A</a:t>
                      </a:r>
                      <a:endParaRPr sz="16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30</a:t>
                      </a:r>
                      <a:endParaRPr sz="16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C</a:t>
                      </a:r>
                      <a:endParaRPr sz="16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195348"/>
                  </a:ext>
                </a:extLst>
              </a:tr>
              <a:tr h="32736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/>
                        <a:t>B</a:t>
                      </a:r>
                      <a:endParaRPr sz="16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/>
                        <a:t>10</a:t>
                      </a:r>
                      <a:endParaRPr sz="14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F</a:t>
                      </a:r>
                      <a:endParaRPr sz="16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967042"/>
                  </a:ext>
                </a:extLst>
              </a:tr>
              <a:tr h="32736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/>
                        <a:t>C</a:t>
                      </a:r>
                      <a:endParaRPr sz="16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20</a:t>
                      </a:r>
                      <a:endParaRPr sz="14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D</a:t>
                      </a:r>
                      <a:endParaRPr sz="16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942579"/>
                  </a:ext>
                </a:extLst>
              </a:tr>
              <a:tr h="32736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/>
                        <a:t>D</a:t>
                      </a:r>
                      <a:endParaRPr sz="16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/>
                        <a:t>12</a:t>
                      </a:r>
                      <a:endParaRPr sz="14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/>
                        <a:t>-</a:t>
                      </a:r>
                      <a:endParaRPr sz="16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567976"/>
                  </a:ext>
                </a:extLst>
              </a:tr>
              <a:tr h="32736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E</a:t>
                      </a:r>
                      <a:endParaRPr sz="16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/>
                        <a:t>60</a:t>
                      </a:r>
                      <a:endParaRPr sz="16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/>
                        <a:t>A</a:t>
                      </a:r>
                      <a:endParaRPr sz="16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147117"/>
                  </a:ext>
                </a:extLst>
              </a:tr>
              <a:tr h="32736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F</a:t>
                      </a:r>
                      <a:endParaRPr sz="16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5</a:t>
                      </a:r>
                      <a:endParaRPr sz="14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/>
                        <a:t>C</a:t>
                      </a:r>
                      <a:endParaRPr sz="16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7671604"/>
                  </a:ext>
                </a:extLst>
              </a:tr>
              <a:tr h="32736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/>
                        <a:t>G</a:t>
                      </a:r>
                      <a:endParaRPr sz="16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17</a:t>
                      </a:r>
                      <a:endParaRPr sz="16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/>
                        <a:t>B</a:t>
                      </a:r>
                      <a:endParaRPr sz="16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826967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2FBDD913-E540-B639-C8FF-FB5DD5CE9B70}"/>
              </a:ext>
            </a:extLst>
          </p:cNvPr>
          <p:cNvSpPr txBox="1"/>
          <p:nvPr/>
        </p:nvSpPr>
        <p:spPr>
          <a:xfrm>
            <a:off x="6811307" y="2611390"/>
            <a:ext cx="503190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latin typeface="Century Gothic" panose="020B0502020202020204" pitchFamily="34" charset="0"/>
              </a:rPr>
              <a:t>Colonne </a:t>
            </a:r>
            <a:r>
              <a:rPr lang="fr-FR" sz="1400" dirty="0">
                <a:latin typeface="Century Gothic" panose="020B0502020202020204" pitchFamily="34" charset="0"/>
              </a:rPr>
              <a:t>«</a:t>
            </a:r>
            <a:r>
              <a:rPr lang="fr-FR" sz="1400" b="1" dirty="0">
                <a:latin typeface="Century Gothic" panose="020B0502020202020204" pitchFamily="34" charset="0"/>
              </a:rPr>
              <a:t> Tâche</a:t>
            </a:r>
            <a:r>
              <a:rPr lang="fr-FR" sz="1400" dirty="0">
                <a:latin typeface="Century Gothic" panose="020B0502020202020204" pitchFamily="34" charset="0"/>
              </a:rPr>
              <a:t> »</a:t>
            </a:r>
            <a:r>
              <a:rPr lang="fr-FR" sz="1400" b="1" dirty="0">
                <a:latin typeface="Century Gothic" panose="020B0502020202020204" pitchFamily="34" charset="0"/>
              </a:rPr>
              <a:t> </a:t>
            </a:r>
            <a:r>
              <a:rPr lang="fr-FR" sz="1400" dirty="0">
                <a:latin typeface="Century Gothic" panose="020B0502020202020204" pitchFamily="34" charset="0"/>
              </a:rPr>
              <a:t>:</a:t>
            </a:r>
          </a:p>
          <a:p>
            <a:r>
              <a:rPr lang="fr-FR" sz="1400" dirty="0">
                <a:latin typeface="Century Gothic" panose="020B0502020202020204" pitchFamily="34" charset="0"/>
              </a:rPr>
              <a:t>Lister les tâches qui composent votre projet.</a:t>
            </a:r>
          </a:p>
          <a:p>
            <a:r>
              <a:rPr lang="fr-FR" sz="1400" dirty="0">
                <a:latin typeface="Century Gothic" panose="020B0502020202020204" pitchFamily="34" charset="0"/>
              </a:rPr>
              <a:t>Dans cet exemple, les tâches ont été nommées de A à G</a:t>
            </a:r>
          </a:p>
          <a:p>
            <a:endParaRPr lang="fr-FR" sz="1400" dirty="0">
              <a:latin typeface="Century Gothic" panose="020B0502020202020204" pitchFamily="34" charset="0"/>
            </a:endParaRPr>
          </a:p>
          <a:p>
            <a:r>
              <a:rPr lang="fr-FR" sz="1400" b="1" dirty="0">
                <a:latin typeface="Century Gothic" panose="020B0502020202020204" pitchFamily="34" charset="0"/>
              </a:rPr>
              <a:t>Colonne</a:t>
            </a:r>
            <a:r>
              <a:rPr lang="fr-FR" sz="1400" dirty="0">
                <a:latin typeface="Century Gothic" panose="020B0502020202020204" pitchFamily="34" charset="0"/>
              </a:rPr>
              <a:t> « </a:t>
            </a:r>
            <a:r>
              <a:rPr lang="fr-FR" sz="1400" b="1" dirty="0">
                <a:latin typeface="Century Gothic" panose="020B0502020202020204" pitchFamily="34" charset="0"/>
              </a:rPr>
              <a:t>Durée</a:t>
            </a:r>
            <a:r>
              <a:rPr lang="fr-FR" sz="1400" dirty="0">
                <a:latin typeface="Century Gothic" panose="020B0502020202020204" pitchFamily="34" charset="0"/>
              </a:rPr>
              <a:t> » :</a:t>
            </a:r>
          </a:p>
          <a:p>
            <a:r>
              <a:rPr lang="fr-FR" sz="1400" dirty="0">
                <a:latin typeface="Century Gothic" panose="020B0502020202020204" pitchFamily="34" charset="0"/>
              </a:rPr>
              <a:t>Mettez les durées estimées pour chacune de ces tâches.</a:t>
            </a:r>
          </a:p>
          <a:p>
            <a:r>
              <a:rPr lang="fr-FR" sz="1400" dirty="0">
                <a:latin typeface="Century Gothic" panose="020B0502020202020204" pitchFamily="34" charset="0"/>
              </a:rPr>
              <a:t>Ici, la tâche A </a:t>
            </a:r>
            <a:r>
              <a:rPr lang="fr-FR" sz="1400" dirty="0" err="1">
                <a:latin typeface="Century Gothic" panose="020B0502020202020204" pitchFamily="34" charset="0"/>
              </a:rPr>
              <a:t>a</a:t>
            </a:r>
            <a:r>
              <a:rPr lang="fr-FR" sz="1400" dirty="0">
                <a:latin typeface="Century Gothic" panose="020B0502020202020204" pitchFamily="34" charset="0"/>
              </a:rPr>
              <a:t> une durée de 30 jours, la tâche B 10 jours, et ainsi de suite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2257A6-737E-F871-3113-878CC7B76856}"/>
              </a:ext>
            </a:extLst>
          </p:cNvPr>
          <p:cNvSpPr/>
          <p:nvPr/>
        </p:nvSpPr>
        <p:spPr>
          <a:xfrm>
            <a:off x="0" y="0"/>
            <a:ext cx="12192000" cy="6502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916E8CF-5689-E101-F3C9-478A26E3FFE6}"/>
              </a:ext>
            </a:extLst>
          </p:cNvPr>
          <p:cNvSpPr txBox="1"/>
          <p:nvPr/>
        </p:nvSpPr>
        <p:spPr>
          <a:xfrm>
            <a:off x="507494" y="6428623"/>
            <a:ext cx="9459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En savoir plus sur le diagramme PERT </a:t>
            </a:r>
            <a:r>
              <a:rPr lang="fr-FR" sz="1400" b="1" u="sng" dirty="0">
                <a:hlinkClick r:id="rId3"/>
              </a:rPr>
              <a:t>dans ce tutoriel</a:t>
            </a:r>
            <a:r>
              <a:rPr lang="fr-FR" sz="1400" dirty="0"/>
              <a:t>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9EE6711-3D10-85DF-3816-9EB818223CC4}"/>
              </a:ext>
            </a:extLst>
          </p:cNvPr>
          <p:cNvSpPr txBox="1"/>
          <p:nvPr/>
        </p:nvSpPr>
        <p:spPr>
          <a:xfrm>
            <a:off x="1654888" y="1839414"/>
            <a:ext cx="3312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004837"/>
                </a:solidFill>
                <a:latin typeface="Century Gothic" panose="020B0502020202020204" pitchFamily="34" charset="0"/>
              </a:rPr>
              <a:t>Tableau des tâches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5CBA6363-49DB-F1FA-FC22-CE46BA0EAB89}"/>
              </a:ext>
            </a:extLst>
          </p:cNvPr>
          <p:cNvSpPr txBox="1">
            <a:spLocks/>
          </p:cNvSpPr>
          <p:nvPr/>
        </p:nvSpPr>
        <p:spPr>
          <a:xfrm>
            <a:off x="1529080" y="121600"/>
            <a:ext cx="8326120" cy="4543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400" b="1">
                <a:solidFill>
                  <a:srgbClr val="004837"/>
                </a:solidFill>
                <a:latin typeface="Century Gothic" panose="020B0502020202020204" pitchFamily="34" charset="0"/>
              </a:rPr>
              <a:t>2. Dresser le tableau des tâches</a:t>
            </a:r>
            <a:endParaRPr lang="fr-FR" sz="2400" b="1" dirty="0">
              <a:solidFill>
                <a:srgbClr val="004837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3177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2">
            <a:extLst>
              <a:ext uri="{FF2B5EF4-FFF2-40B4-BE49-F238E27FC236}">
                <a16:creationId xmlns:a16="http://schemas.microsoft.com/office/drawing/2014/main" id="{F457FFD0-78E5-4404-0412-251669E89C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0765405"/>
              </p:ext>
            </p:extLst>
          </p:nvPr>
        </p:nvGraphicFramePr>
        <p:xfrm>
          <a:off x="741174" y="1932395"/>
          <a:ext cx="5908653" cy="271279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296666">
                  <a:extLst>
                    <a:ext uri="{9D8B030D-6E8A-4147-A177-3AD203B41FA5}">
                      <a16:colId xmlns:a16="http://schemas.microsoft.com/office/drawing/2014/main" val="2095251373"/>
                    </a:ext>
                  </a:extLst>
                </a:gridCol>
                <a:gridCol w="1700477">
                  <a:extLst>
                    <a:ext uri="{9D8B030D-6E8A-4147-A177-3AD203B41FA5}">
                      <a16:colId xmlns:a16="http://schemas.microsoft.com/office/drawing/2014/main" val="1546053385"/>
                    </a:ext>
                  </a:extLst>
                </a:gridCol>
                <a:gridCol w="1911510">
                  <a:extLst>
                    <a:ext uri="{9D8B030D-6E8A-4147-A177-3AD203B41FA5}">
                      <a16:colId xmlns:a16="http://schemas.microsoft.com/office/drawing/2014/main" val="766829145"/>
                    </a:ext>
                  </a:extLst>
                </a:gridCol>
              </a:tblGrid>
              <a:tr h="327364">
                <a:tc>
                  <a:txBody>
                    <a:bodyPr/>
                    <a:lstStyle/>
                    <a:p>
                      <a:pPr algn="ctr"/>
                      <a:r>
                        <a:rPr lang="fr-FR" sz="1800" dirty="0"/>
                        <a:t>Tâche</a:t>
                      </a:r>
                    </a:p>
                  </a:txBody>
                  <a:tcPr>
                    <a:solidFill>
                      <a:srgbClr val="62BD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/>
                        <a:t>Durée</a:t>
                      </a:r>
                    </a:p>
                  </a:txBody>
                  <a:tcPr>
                    <a:solidFill>
                      <a:srgbClr val="62BD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/>
                        <a:t>Prédécesseurs</a:t>
                      </a:r>
                    </a:p>
                  </a:txBody>
                  <a:tcPr>
                    <a:solidFill>
                      <a:srgbClr val="62BD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253481"/>
                  </a:ext>
                </a:extLst>
              </a:tr>
              <a:tr h="32736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/>
                        <a:t>A</a:t>
                      </a:r>
                      <a:endParaRPr sz="16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30</a:t>
                      </a:r>
                      <a:endParaRPr sz="16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C</a:t>
                      </a:r>
                      <a:endParaRPr sz="16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195348"/>
                  </a:ext>
                </a:extLst>
              </a:tr>
              <a:tr h="32736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/>
                        <a:t>B</a:t>
                      </a:r>
                      <a:endParaRPr sz="16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/>
                        <a:t>10</a:t>
                      </a:r>
                      <a:endParaRPr sz="14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F</a:t>
                      </a:r>
                      <a:endParaRPr sz="16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967042"/>
                  </a:ext>
                </a:extLst>
              </a:tr>
              <a:tr h="32736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/>
                        <a:t>C</a:t>
                      </a:r>
                      <a:endParaRPr sz="16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20</a:t>
                      </a:r>
                      <a:endParaRPr sz="14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D</a:t>
                      </a:r>
                      <a:endParaRPr sz="16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942579"/>
                  </a:ext>
                </a:extLst>
              </a:tr>
              <a:tr h="32736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/>
                        <a:t>D</a:t>
                      </a:r>
                      <a:endParaRPr sz="16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/>
                        <a:t>12</a:t>
                      </a:r>
                      <a:endParaRPr sz="14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/>
                        <a:t>-</a:t>
                      </a:r>
                      <a:endParaRPr sz="16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567976"/>
                  </a:ext>
                </a:extLst>
              </a:tr>
              <a:tr h="32736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E</a:t>
                      </a:r>
                      <a:endParaRPr sz="16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/>
                        <a:t>60</a:t>
                      </a:r>
                      <a:endParaRPr sz="16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/>
                        <a:t>A</a:t>
                      </a:r>
                      <a:endParaRPr sz="16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147117"/>
                  </a:ext>
                </a:extLst>
              </a:tr>
              <a:tr h="32736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F</a:t>
                      </a:r>
                      <a:endParaRPr sz="16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5</a:t>
                      </a:r>
                      <a:endParaRPr sz="14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/>
                        <a:t>C</a:t>
                      </a:r>
                      <a:endParaRPr sz="16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7671604"/>
                  </a:ext>
                </a:extLst>
              </a:tr>
              <a:tr h="32736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/>
                        <a:t>G</a:t>
                      </a:r>
                      <a:endParaRPr sz="16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/>
                        <a:t>17</a:t>
                      </a:r>
                      <a:endParaRPr sz="16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dirty="0"/>
                        <a:t>B</a:t>
                      </a:r>
                      <a:endParaRPr sz="16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826967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2FBDD913-E540-B639-C8FF-FB5DD5CE9B70}"/>
              </a:ext>
            </a:extLst>
          </p:cNvPr>
          <p:cNvSpPr txBox="1"/>
          <p:nvPr/>
        </p:nvSpPr>
        <p:spPr>
          <a:xfrm>
            <a:off x="6994187" y="2432000"/>
            <a:ext cx="503190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latin typeface="Century Gothic" panose="020B0502020202020204" pitchFamily="34" charset="0"/>
              </a:rPr>
              <a:t>Colonne</a:t>
            </a:r>
            <a:r>
              <a:rPr lang="fr-FR" sz="1400" dirty="0">
                <a:latin typeface="Century Gothic" panose="020B0502020202020204" pitchFamily="34" charset="0"/>
              </a:rPr>
              <a:t> « </a:t>
            </a:r>
            <a:r>
              <a:rPr lang="fr-FR" sz="1400" b="1" dirty="0">
                <a:latin typeface="Century Gothic" panose="020B0502020202020204" pitchFamily="34" charset="0"/>
              </a:rPr>
              <a:t>Prédécesseurs</a:t>
            </a:r>
            <a:r>
              <a:rPr lang="fr-FR" sz="1400" dirty="0">
                <a:latin typeface="Century Gothic" panose="020B0502020202020204" pitchFamily="34" charset="0"/>
              </a:rPr>
              <a:t> » :</a:t>
            </a:r>
          </a:p>
          <a:p>
            <a:r>
              <a:rPr lang="fr-FR" sz="1400" dirty="0">
                <a:latin typeface="Century Gothic" panose="020B0502020202020204" pitchFamily="34" charset="0"/>
              </a:rPr>
              <a:t>Déterminez les tâches à réaliser obligatoirement avant de démarrer la tâche en question.</a:t>
            </a:r>
          </a:p>
          <a:p>
            <a:r>
              <a:rPr lang="fr-FR" sz="1400" dirty="0">
                <a:latin typeface="Century Gothic" panose="020B0502020202020204" pitchFamily="34" charset="0"/>
              </a:rPr>
              <a:t>Ici, la tâche C doit se dérouler avant la tâche A, et ainsi de suite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2257A6-737E-F871-3113-878CC7B76856}"/>
              </a:ext>
            </a:extLst>
          </p:cNvPr>
          <p:cNvSpPr/>
          <p:nvPr/>
        </p:nvSpPr>
        <p:spPr>
          <a:xfrm>
            <a:off x="0" y="0"/>
            <a:ext cx="12192000" cy="6502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916E8CF-5689-E101-F3C9-478A26E3FFE6}"/>
              </a:ext>
            </a:extLst>
          </p:cNvPr>
          <p:cNvSpPr txBox="1"/>
          <p:nvPr/>
        </p:nvSpPr>
        <p:spPr>
          <a:xfrm>
            <a:off x="507494" y="6428623"/>
            <a:ext cx="9459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En savoir plus sur le diagramme PERT </a:t>
            </a:r>
            <a:r>
              <a:rPr lang="fr-FR" sz="1400" b="1" u="sng" dirty="0">
                <a:hlinkClick r:id="rId3"/>
              </a:rPr>
              <a:t>dans ce tutoriel</a:t>
            </a:r>
            <a:r>
              <a:rPr lang="fr-FR" sz="1400" dirty="0"/>
              <a:t>.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5311E1F8-3AE4-A88B-139F-13EAC9BFB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9080" y="121600"/>
            <a:ext cx="8326120" cy="454322"/>
          </a:xfrm>
        </p:spPr>
        <p:txBody>
          <a:bodyPr>
            <a:normAutofit/>
          </a:bodyPr>
          <a:lstStyle/>
          <a:p>
            <a:pPr algn="ctr"/>
            <a:r>
              <a:rPr lang="fr-FR" sz="2400" b="1" dirty="0">
                <a:solidFill>
                  <a:srgbClr val="004837"/>
                </a:solidFill>
                <a:latin typeface="Century Gothic" panose="020B0502020202020204" pitchFamily="34" charset="0"/>
              </a:rPr>
              <a:t>3. Déterminer les prédécesseurs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9EE6711-3D10-85DF-3816-9EB818223CC4}"/>
              </a:ext>
            </a:extLst>
          </p:cNvPr>
          <p:cNvSpPr txBox="1"/>
          <p:nvPr/>
        </p:nvSpPr>
        <p:spPr>
          <a:xfrm>
            <a:off x="1888568" y="1504134"/>
            <a:ext cx="3312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004837"/>
                </a:solidFill>
                <a:latin typeface="Century Gothic" panose="020B0502020202020204" pitchFamily="34" charset="0"/>
              </a:rPr>
              <a:t>Tableau des tâches</a:t>
            </a:r>
          </a:p>
        </p:txBody>
      </p:sp>
    </p:spTree>
    <p:extLst>
      <p:ext uri="{BB962C8B-B14F-4D97-AF65-F5344CB8AC3E}">
        <p14:creationId xmlns:p14="http://schemas.microsoft.com/office/powerpoint/2010/main" val="1110235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2">
            <a:extLst>
              <a:ext uri="{FF2B5EF4-FFF2-40B4-BE49-F238E27FC236}">
                <a16:creationId xmlns:a16="http://schemas.microsoft.com/office/drawing/2014/main" id="{F457FFD0-78E5-4404-0412-251669E89C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089262"/>
              </p:ext>
            </p:extLst>
          </p:nvPr>
        </p:nvGraphicFramePr>
        <p:xfrm>
          <a:off x="507494" y="1869305"/>
          <a:ext cx="6729278" cy="292615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446688">
                  <a:extLst>
                    <a:ext uri="{9D8B030D-6E8A-4147-A177-3AD203B41FA5}">
                      <a16:colId xmlns:a16="http://schemas.microsoft.com/office/drawing/2014/main" val="2095251373"/>
                    </a:ext>
                  </a:extLst>
                </a:gridCol>
                <a:gridCol w="1139890">
                  <a:extLst>
                    <a:ext uri="{9D8B030D-6E8A-4147-A177-3AD203B41FA5}">
                      <a16:colId xmlns:a16="http://schemas.microsoft.com/office/drawing/2014/main" val="1546053385"/>
                    </a:ext>
                  </a:extLst>
                </a:gridCol>
                <a:gridCol w="1715170">
                  <a:extLst>
                    <a:ext uri="{9D8B030D-6E8A-4147-A177-3AD203B41FA5}">
                      <a16:colId xmlns:a16="http://schemas.microsoft.com/office/drawing/2014/main" val="766829145"/>
                    </a:ext>
                  </a:extLst>
                </a:gridCol>
                <a:gridCol w="1427530">
                  <a:extLst>
                    <a:ext uri="{9D8B030D-6E8A-4147-A177-3AD203B41FA5}">
                      <a16:colId xmlns:a16="http://schemas.microsoft.com/office/drawing/2014/main" val="1766205267"/>
                    </a:ext>
                  </a:extLst>
                </a:gridCol>
              </a:tblGrid>
              <a:tr h="327364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Tâche</a:t>
                      </a:r>
                    </a:p>
                  </a:txBody>
                  <a:tcPr>
                    <a:solidFill>
                      <a:srgbClr val="62BD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Durée</a:t>
                      </a:r>
                    </a:p>
                  </a:txBody>
                  <a:tcPr>
                    <a:solidFill>
                      <a:srgbClr val="62BD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Prédécesseurs</a:t>
                      </a:r>
                    </a:p>
                  </a:txBody>
                  <a:tcPr>
                    <a:solidFill>
                      <a:srgbClr val="62BD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Successeurs</a:t>
                      </a:r>
                    </a:p>
                  </a:txBody>
                  <a:tcPr>
                    <a:solidFill>
                      <a:srgbClr val="62BD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253481"/>
                  </a:ext>
                </a:extLst>
              </a:tr>
              <a:tr h="32736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/>
                        <a:t>A</a:t>
                      </a:r>
                      <a:endParaRPr sz="18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30</a:t>
                      </a:r>
                      <a:endParaRPr sz="18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C</a:t>
                      </a:r>
                      <a:endParaRPr sz="18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E</a:t>
                      </a:r>
                      <a:endParaRPr sz="18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195348"/>
                  </a:ext>
                </a:extLst>
              </a:tr>
              <a:tr h="32736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B</a:t>
                      </a:r>
                      <a:endParaRPr sz="18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/>
                        <a:t>10</a:t>
                      </a:r>
                      <a:endParaRPr sz="16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F</a:t>
                      </a:r>
                      <a:endParaRPr sz="18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G</a:t>
                      </a:r>
                      <a:endParaRPr sz="18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967042"/>
                  </a:ext>
                </a:extLst>
              </a:tr>
              <a:tr h="32736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C</a:t>
                      </a:r>
                      <a:endParaRPr sz="18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20</a:t>
                      </a:r>
                      <a:endParaRPr sz="16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/>
                        <a:t>D</a:t>
                      </a:r>
                      <a:endParaRPr sz="18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A, F</a:t>
                      </a:r>
                      <a:endParaRPr sz="18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942579"/>
                  </a:ext>
                </a:extLst>
              </a:tr>
              <a:tr h="32736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D</a:t>
                      </a:r>
                      <a:endParaRPr sz="18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/>
                        <a:t>12</a:t>
                      </a:r>
                      <a:endParaRPr sz="16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/>
                        <a:t>-</a:t>
                      </a:r>
                      <a:endParaRPr sz="18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C</a:t>
                      </a:r>
                      <a:endParaRPr sz="18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567976"/>
                  </a:ext>
                </a:extLst>
              </a:tr>
              <a:tr h="32736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E</a:t>
                      </a:r>
                      <a:endParaRPr sz="18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/>
                        <a:t>60</a:t>
                      </a:r>
                      <a:endParaRPr sz="18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/>
                        <a:t>A</a:t>
                      </a:r>
                      <a:endParaRPr sz="18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/>
                        <a:t>-</a:t>
                      </a:r>
                      <a:endParaRPr sz="18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147117"/>
                  </a:ext>
                </a:extLst>
              </a:tr>
              <a:tr h="32736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F</a:t>
                      </a:r>
                      <a:endParaRPr sz="18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5</a:t>
                      </a:r>
                      <a:endParaRPr sz="16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/>
                        <a:t>C</a:t>
                      </a:r>
                      <a:endParaRPr sz="18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B</a:t>
                      </a:r>
                      <a:endParaRPr sz="18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170213"/>
                  </a:ext>
                </a:extLst>
              </a:tr>
              <a:tr h="32736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G</a:t>
                      </a:r>
                      <a:endParaRPr sz="18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17</a:t>
                      </a:r>
                      <a:endParaRPr sz="18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/>
                        <a:t>B</a:t>
                      </a:r>
                      <a:endParaRPr sz="18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/>
                        <a:t>-</a:t>
                      </a:r>
                      <a:endParaRPr sz="18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662875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2FBDD913-E540-B639-C8FF-FB5DD5CE9B70}"/>
              </a:ext>
            </a:extLst>
          </p:cNvPr>
          <p:cNvSpPr txBox="1"/>
          <p:nvPr/>
        </p:nvSpPr>
        <p:spPr>
          <a:xfrm>
            <a:off x="7648216" y="2521059"/>
            <a:ext cx="43056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latin typeface="Century Gothic" panose="020B0502020202020204" pitchFamily="34" charset="0"/>
              </a:rPr>
              <a:t>Colonne</a:t>
            </a:r>
            <a:r>
              <a:rPr lang="fr-FR" sz="1400" dirty="0">
                <a:latin typeface="Century Gothic" panose="020B0502020202020204" pitchFamily="34" charset="0"/>
              </a:rPr>
              <a:t> « </a:t>
            </a:r>
            <a:r>
              <a:rPr lang="fr-FR" sz="1400" b="1" dirty="0">
                <a:latin typeface="Century Gothic" panose="020B0502020202020204" pitchFamily="34" charset="0"/>
              </a:rPr>
              <a:t>Successeurs</a:t>
            </a:r>
            <a:r>
              <a:rPr lang="fr-FR" sz="1400" dirty="0">
                <a:latin typeface="Century Gothic" panose="020B0502020202020204" pitchFamily="34" charset="0"/>
              </a:rPr>
              <a:t> » :</a:t>
            </a:r>
          </a:p>
          <a:p>
            <a:r>
              <a:rPr lang="fr-FR" sz="1400" dirty="0">
                <a:latin typeface="Century Gothic" panose="020B0502020202020204" pitchFamily="34" charset="0"/>
              </a:rPr>
              <a:t>Les successeurs sont les tâches qui ne peuvent pas démarrer avant la fin de la tâche en question.</a:t>
            </a:r>
          </a:p>
          <a:p>
            <a:r>
              <a:rPr lang="fr-FR" sz="1400" dirty="0">
                <a:latin typeface="Century Gothic" panose="020B0502020202020204" pitchFamily="34" charset="0"/>
              </a:rPr>
              <a:t>Ils sont à déduire à partir des prédécesseurs.</a:t>
            </a:r>
          </a:p>
          <a:p>
            <a:endParaRPr lang="fr-FR" sz="1400" dirty="0">
              <a:latin typeface="Century Gothic" panose="020B0502020202020204" pitchFamily="34" charset="0"/>
            </a:endParaRPr>
          </a:p>
          <a:p>
            <a:r>
              <a:rPr lang="fr-FR" sz="1400" dirty="0">
                <a:latin typeface="Century Gothic" panose="020B0502020202020204" pitchFamily="34" charset="0"/>
              </a:rPr>
              <a:t>Vous aurez compris le principe, ici, la tâche E se déroule donc après la tâche A, et ainsi de suite.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697AE3-DE94-2AED-AC56-B5CC004FC11A}"/>
              </a:ext>
            </a:extLst>
          </p:cNvPr>
          <p:cNvSpPr/>
          <p:nvPr/>
        </p:nvSpPr>
        <p:spPr>
          <a:xfrm>
            <a:off x="0" y="0"/>
            <a:ext cx="12192000" cy="6502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52270384-AA4E-8589-D21E-A881660DB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9080" y="121600"/>
            <a:ext cx="8326120" cy="454322"/>
          </a:xfrm>
        </p:spPr>
        <p:txBody>
          <a:bodyPr>
            <a:normAutofit/>
          </a:bodyPr>
          <a:lstStyle/>
          <a:p>
            <a:pPr algn="ctr"/>
            <a:r>
              <a:rPr lang="fr-FR" sz="2400" b="1" dirty="0">
                <a:solidFill>
                  <a:srgbClr val="004837"/>
                </a:solidFill>
                <a:latin typeface="Century Gothic" panose="020B0502020202020204" pitchFamily="34" charset="0"/>
              </a:rPr>
              <a:t>4. Déduire les successeurs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88D8367-71F4-494E-B800-41C5C4F71AC0}"/>
              </a:ext>
            </a:extLst>
          </p:cNvPr>
          <p:cNvSpPr txBox="1"/>
          <p:nvPr/>
        </p:nvSpPr>
        <p:spPr>
          <a:xfrm>
            <a:off x="507494" y="6428623"/>
            <a:ext cx="9459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En savoir plus sur le diagramme PERT </a:t>
            </a:r>
            <a:r>
              <a:rPr lang="fr-FR" sz="1400" b="1" u="sng" dirty="0">
                <a:hlinkClick r:id="rId3"/>
              </a:rPr>
              <a:t>dans ce tutoriel</a:t>
            </a:r>
            <a:r>
              <a:rPr lang="fr-FR" sz="1400" dirty="0"/>
              <a:t>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E973548-737C-A961-A84F-4609875796DA}"/>
              </a:ext>
            </a:extLst>
          </p:cNvPr>
          <p:cNvSpPr txBox="1"/>
          <p:nvPr/>
        </p:nvSpPr>
        <p:spPr>
          <a:xfrm>
            <a:off x="2118826" y="1499973"/>
            <a:ext cx="3312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004837"/>
                </a:solidFill>
                <a:latin typeface="Century Gothic" panose="020B0502020202020204" pitchFamily="34" charset="0"/>
              </a:rPr>
              <a:t>Tableau des tâches</a:t>
            </a:r>
          </a:p>
        </p:txBody>
      </p:sp>
    </p:spTree>
    <p:extLst>
      <p:ext uri="{BB962C8B-B14F-4D97-AF65-F5344CB8AC3E}">
        <p14:creationId xmlns:p14="http://schemas.microsoft.com/office/powerpoint/2010/main" val="184209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1BDCA81-8956-3E24-C640-AF9AC70F5594}"/>
              </a:ext>
            </a:extLst>
          </p:cNvPr>
          <p:cNvSpPr txBox="1"/>
          <p:nvPr/>
        </p:nvSpPr>
        <p:spPr>
          <a:xfrm>
            <a:off x="6384845" y="1070086"/>
            <a:ext cx="567996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00" b="1" dirty="0">
                <a:latin typeface="Century Gothic" panose="020B0502020202020204" pitchFamily="34" charset="0"/>
              </a:rPr>
              <a:t>Etapes à suivre pour dessiner le réseau PERT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fr-FR" sz="1300" b="1" dirty="0">
                <a:latin typeface="Century Gothic" panose="020B0502020202020204" pitchFamily="34" charset="0"/>
              </a:rPr>
              <a:t>Utiliser le tableau des tâches ci-contre</a:t>
            </a:r>
          </a:p>
          <a:p>
            <a:endParaRPr lang="fr-FR" sz="1300" b="1" dirty="0">
              <a:latin typeface="Century Gothic" panose="020B0502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1300" dirty="0">
                <a:latin typeface="Century Gothic" panose="020B0502020202020204" pitchFamily="34" charset="0"/>
              </a:rPr>
              <a:t>D’abord placer les étapes Début et Fin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300" dirty="0">
                <a:latin typeface="Century Gothic" panose="020B0502020202020204" pitchFamily="34" charset="0"/>
              </a:rPr>
              <a:t>Placer vers la fin les tâches qui n’ont pas de successeurs (ici E et G) 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300" dirty="0">
                <a:latin typeface="Century Gothic" panose="020B0502020202020204" pitchFamily="34" charset="0"/>
              </a:rPr>
              <a:t>Puis placer vers le début les tâches qui n’ont pas de prédécesseurs (ici D)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300" dirty="0">
                <a:latin typeface="Century Gothic" panose="020B0502020202020204" pitchFamily="34" charset="0"/>
              </a:rPr>
              <a:t>Renseigner les durées des tâches au dessus des flèches (D12, G17,…)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300" dirty="0">
                <a:latin typeface="Century Gothic" panose="020B0502020202020204" pitchFamily="34" charset="0"/>
              </a:rPr>
              <a:t>Positionner les tâches restantes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300" dirty="0">
                <a:latin typeface="Century Gothic" panose="020B0502020202020204" pitchFamily="34" charset="0"/>
              </a:rPr>
              <a:t>Renseigner les dates de début au plus tôt de chaque tâche</a:t>
            </a:r>
          </a:p>
        </p:txBody>
      </p:sp>
      <p:grpSp>
        <p:nvGrpSpPr>
          <p:cNvPr id="115" name="Groupe 114">
            <a:extLst>
              <a:ext uri="{FF2B5EF4-FFF2-40B4-BE49-F238E27FC236}">
                <a16:creationId xmlns:a16="http://schemas.microsoft.com/office/drawing/2014/main" id="{0B05F5DA-40A4-910B-6EFA-649BD4A1D6CD}"/>
              </a:ext>
            </a:extLst>
          </p:cNvPr>
          <p:cNvGrpSpPr/>
          <p:nvPr/>
        </p:nvGrpSpPr>
        <p:grpSpPr>
          <a:xfrm>
            <a:off x="3667760" y="3848710"/>
            <a:ext cx="8088467" cy="2777454"/>
            <a:chOff x="924560" y="3429000"/>
            <a:chExt cx="9719147" cy="3134416"/>
          </a:xfrm>
        </p:grpSpPr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1022C833-2B6A-9B82-E63F-9B6703CFF5AB}"/>
                </a:ext>
              </a:extLst>
            </p:cNvPr>
            <p:cNvGrpSpPr/>
            <p:nvPr/>
          </p:nvGrpSpPr>
          <p:grpSpPr>
            <a:xfrm>
              <a:off x="924560" y="3429000"/>
              <a:ext cx="9719147" cy="3134416"/>
              <a:chOff x="164308" y="842931"/>
              <a:chExt cx="11820519" cy="3764684"/>
            </a:xfrm>
          </p:grpSpPr>
          <p:sp>
            <p:nvSpPr>
              <p:cNvPr id="8" name="Ellipse 7">
                <a:extLst>
                  <a:ext uri="{FF2B5EF4-FFF2-40B4-BE49-F238E27FC236}">
                    <a16:creationId xmlns:a16="http://schemas.microsoft.com/office/drawing/2014/main" id="{35A2D982-3DE5-8926-3B3C-3C07517B411A}"/>
                  </a:ext>
                </a:extLst>
              </p:cNvPr>
              <p:cNvSpPr/>
              <p:nvPr/>
            </p:nvSpPr>
            <p:spPr>
              <a:xfrm>
                <a:off x="164308" y="2514564"/>
                <a:ext cx="1300163" cy="122872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9" name="Connecteur droit 8">
                <a:extLst>
                  <a:ext uri="{FF2B5EF4-FFF2-40B4-BE49-F238E27FC236}">
                    <a16:creationId xmlns:a16="http://schemas.microsoft.com/office/drawing/2014/main" id="{D23FFD89-4E9C-CE4F-EEB7-5B9CD452C886}"/>
                  </a:ext>
                </a:extLst>
              </p:cNvPr>
              <p:cNvCxnSpPr>
                <a:cxnSpLocks/>
                <a:stCxn id="8" idx="2"/>
                <a:endCxn id="8" idx="6"/>
              </p:cNvCxnSpPr>
              <p:nvPr/>
            </p:nvCxnSpPr>
            <p:spPr>
              <a:xfrm>
                <a:off x="164308" y="3128927"/>
                <a:ext cx="130016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Connecteur droit 12">
                <a:extLst>
                  <a:ext uri="{FF2B5EF4-FFF2-40B4-BE49-F238E27FC236}">
                    <a16:creationId xmlns:a16="http://schemas.microsoft.com/office/drawing/2014/main" id="{C90F8160-F4E5-EA80-585C-645268D72AE8}"/>
                  </a:ext>
                </a:extLst>
              </p:cNvPr>
              <p:cNvCxnSpPr>
                <a:endCxn id="8" idx="4"/>
              </p:cNvCxnSpPr>
              <p:nvPr/>
            </p:nvCxnSpPr>
            <p:spPr>
              <a:xfrm>
                <a:off x="814389" y="3128926"/>
                <a:ext cx="1" cy="61436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6A3E4D0B-8983-DE2E-7098-B4FCD3CD8977}"/>
                  </a:ext>
                </a:extLst>
              </p:cNvPr>
              <p:cNvSpPr txBox="1"/>
              <p:nvPr/>
            </p:nvSpPr>
            <p:spPr>
              <a:xfrm>
                <a:off x="375568" y="2702441"/>
                <a:ext cx="7633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dirty="0"/>
                  <a:t>Début</a:t>
                </a:r>
              </a:p>
            </p:txBody>
          </p:sp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C13EFE08-1954-8371-F9D4-00FB6C9138F3}"/>
                  </a:ext>
                </a:extLst>
              </p:cNvPr>
              <p:cNvSpPr txBox="1"/>
              <p:nvPr/>
            </p:nvSpPr>
            <p:spPr>
              <a:xfrm>
                <a:off x="292897" y="3226077"/>
                <a:ext cx="46434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000" dirty="0"/>
                  <a:t>0</a:t>
                </a:r>
              </a:p>
            </p:txBody>
          </p:sp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ACA5EC93-4CA1-C9EA-DAAD-516CF5280E0C}"/>
                  </a:ext>
                </a:extLst>
              </p:cNvPr>
              <p:cNvSpPr txBox="1"/>
              <p:nvPr/>
            </p:nvSpPr>
            <p:spPr>
              <a:xfrm>
                <a:off x="857255" y="3292282"/>
                <a:ext cx="65008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000" dirty="0"/>
                  <a:t>0</a:t>
                </a:r>
              </a:p>
            </p:txBody>
          </p:sp>
          <p:sp>
            <p:nvSpPr>
              <p:cNvPr id="24" name="Ellipse 23">
                <a:extLst>
                  <a:ext uri="{FF2B5EF4-FFF2-40B4-BE49-F238E27FC236}">
                    <a16:creationId xmlns:a16="http://schemas.microsoft.com/office/drawing/2014/main" id="{CC021353-7569-2F7C-41F5-690ACB038E07}"/>
                  </a:ext>
                </a:extLst>
              </p:cNvPr>
              <p:cNvSpPr/>
              <p:nvPr/>
            </p:nvSpPr>
            <p:spPr>
              <a:xfrm>
                <a:off x="2706088" y="2500274"/>
                <a:ext cx="1300163" cy="122872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25" name="Connecteur droit 24">
                <a:extLst>
                  <a:ext uri="{FF2B5EF4-FFF2-40B4-BE49-F238E27FC236}">
                    <a16:creationId xmlns:a16="http://schemas.microsoft.com/office/drawing/2014/main" id="{6CA29603-99EC-29C8-0186-D1BA843A136E}"/>
                  </a:ext>
                </a:extLst>
              </p:cNvPr>
              <p:cNvCxnSpPr>
                <a:cxnSpLocks/>
                <a:stCxn id="24" idx="2"/>
                <a:endCxn id="24" idx="6"/>
              </p:cNvCxnSpPr>
              <p:nvPr/>
            </p:nvCxnSpPr>
            <p:spPr>
              <a:xfrm>
                <a:off x="2706088" y="3114637"/>
                <a:ext cx="130016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Connecteur droit 25">
                <a:extLst>
                  <a:ext uri="{FF2B5EF4-FFF2-40B4-BE49-F238E27FC236}">
                    <a16:creationId xmlns:a16="http://schemas.microsoft.com/office/drawing/2014/main" id="{445CF725-2F79-6DA5-A163-E75FD7196D2D}"/>
                  </a:ext>
                </a:extLst>
              </p:cNvPr>
              <p:cNvCxnSpPr>
                <a:endCxn id="24" idx="4"/>
              </p:cNvCxnSpPr>
              <p:nvPr/>
            </p:nvCxnSpPr>
            <p:spPr>
              <a:xfrm>
                <a:off x="3356169" y="3114636"/>
                <a:ext cx="1" cy="61436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B7040389-FD63-F3CA-7B15-72BC66F8D8C7}"/>
                  </a:ext>
                </a:extLst>
              </p:cNvPr>
              <p:cNvSpPr txBox="1"/>
              <p:nvPr/>
            </p:nvSpPr>
            <p:spPr>
              <a:xfrm>
                <a:off x="3188127" y="2688151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1</a:t>
                </a:r>
              </a:p>
            </p:txBody>
          </p:sp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6FE773C6-DD25-1FBD-8F68-CB0BEFB3A137}"/>
                  </a:ext>
                </a:extLst>
              </p:cNvPr>
              <p:cNvSpPr txBox="1"/>
              <p:nvPr/>
            </p:nvSpPr>
            <p:spPr>
              <a:xfrm>
                <a:off x="2791817" y="3226077"/>
                <a:ext cx="65008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000" dirty="0"/>
                  <a:t>12</a:t>
                </a:r>
              </a:p>
            </p:txBody>
          </p:sp>
          <p:sp>
            <p:nvSpPr>
              <p:cNvPr id="29" name="ZoneTexte 28">
                <a:extLst>
                  <a:ext uri="{FF2B5EF4-FFF2-40B4-BE49-F238E27FC236}">
                    <a16:creationId xmlns:a16="http://schemas.microsoft.com/office/drawing/2014/main" id="{304ADEA1-184C-94CD-6604-57680FD8F78E}"/>
                  </a:ext>
                </a:extLst>
              </p:cNvPr>
              <p:cNvSpPr txBox="1"/>
              <p:nvPr/>
            </p:nvSpPr>
            <p:spPr>
              <a:xfrm>
                <a:off x="3356176" y="3243231"/>
                <a:ext cx="65008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000" dirty="0"/>
                  <a:t>12</a:t>
                </a:r>
              </a:p>
            </p:txBody>
          </p:sp>
          <p:cxnSp>
            <p:nvCxnSpPr>
              <p:cNvPr id="30" name="Connecteur droit avec flèche 29">
                <a:extLst>
                  <a:ext uri="{FF2B5EF4-FFF2-40B4-BE49-F238E27FC236}">
                    <a16:creationId xmlns:a16="http://schemas.microsoft.com/office/drawing/2014/main" id="{3B232F27-6E8F-0A84-9B31-0E042F22FE85}"/>
                  </a:ext>
                </a:extLst>
              </p:cNvPr>
              <p:cNvCxnSpPr>
                <a:stCxn id="8" idx="6"/>
                <a:endCxn id="24" idx="2"/>
              </p:cNvCxnSpPr>
              <p:nvPr/>
            </p:nvCxnSpPr>
            <p:spPr>
              <a:xfrm flipV="1">
                <a:off x="1464471" y="3114637"/>
                <a:ext cx="1241617" cy="14290"/>
              </a:xfrm>
              <a:prstGeom prst="straightConnector1">
                <a:avLst/>
              </a:prstGeom>
              <a:ln w="63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ZoneTexte 35">
                <a:extLst>
                  <a:ext uri="{FF2B5EF4-FFF2-40B4-BE49-F238E27FC236}">
                    <a16:creationId xmlns:a16="http://schemas.microsoft.com/office/drawing/2014/main" id="{750F0932-A0B8-1E62-1B18-38AE8F6CF5FF}"/>
                  </a:ext>
                </a:extLst>
              </p:cNvPr>
              <p:cNvSpPr txBox="1"/>
              <p:nvPr/>
            </p:nvSpPr>
            <p:spPr>
              <a:xfrm>
                <a:off x="1656882" y="2771017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>
                    <a:latin typeface="Book Antiqua" panose="02040602050305030304" pitchFamily="18" charset="0"/>
                  </a:rPr>
                  <a:t>D12</a:t>
                </a:r>
              </a:p>
            </p:txBody>
          </p:sp>
          <p:sp>
            <p:nvSpPr>
              <p:cNvPr id="53" name="Ellipse 52">
                <a:extLst>
                  <a:ext uri="{FF2B5EF4-FFF2-40B4-BE49-F238E27FC236}">
                    <a16:creationId xmlns:a16="http://schemas.microsoft.com/office/drawing/2014/main" id="{F1A4368A-CB23-2EBD-F528-598E9C549EC8}"/>
                  </a:ext>
                </a:extLst>
              </p:cNvPr>
              <p:cNvSpPr/>
              <p:nvPr/>
            </p:nvSpPr>
            <p:spPr>
              <a:xfrm>
                <a:off x="10684664" y="2628110"/>
                <a:ext cx="1300163" cy="122872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54" name="Connecteur droit 53">
                <a:extLst>
                  <a:ext uri="{FF2B5EF4-FFF2-40B4-BE49-F238E27FC236}">
                    <a16:creationId xmlns:a16="http://schemas.microsoft.com/office/drawing/2014/main" id="{BB713C9A-9EF9-2F59-1B70-3AA0877135D1}"/>
                  </a:ext>
                </a:extLst>
              </p:cNvPr>
              <p:cNvCxnSpPr>
                <a:cxnSpLocks/>
                <a:stCxn id="53" idx="2"/>
                <a:endCxn id="53" idx="6"/>
              </p:cNvCxnSpPr>
              <p:nvPr/>
            </p:nvCxnSpPr>
            <p:spPr>
              <a:xfrm>
                <a:off x="10684664" y="3242473"/>
                <a:ext cx="130016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Connecteur droit 54">
                <a:extLst>
                  <a:ext uri="{FF2B5EF4-FFF2-40B4-BE49-F238E27FC236}">
                    <a16:creationId xmlns:a16="http://schemas.microsoft.com/office/drawing/2014/main" id="{9972DFA6-2D23-C3A0-0782-0FD2A638A129}"/>
                  </a:ext>
                </a:extLst>
              </p:cNvPr>
              <p:cNvCxnSpPr>
                <a:endCxn id="53" idx="4"/>
              </p:cNvCxnSpPr>
              <p:nvPr/>
            </p:nvCxnSpPr>
            <p:spPr>
              <a:xfrm>
                <a:off x="11334745" y="3242472"/>
                <a:ext cx="1" cy="61436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ZoneTexte 55">
                <a:extLst>
                  <a:ext uri="{FF2B5EF4-FFF2-40B4-BE49-F238E27FC236}">
                    <a16:creationId xmlns:a16="http://schemas.microsoft.com/office/drawing/2014/main" id="{1AB7D505-7480-D46B-E6BF-201E3BB7596C}"/>
                  </a:ext>
                </a:extLst>
              </p:cNvPr>
              <p:cNvSpPr txBox="1"/>
              <p:nvPr/>
            </p:nvSpPr>
            <p:spPr>
              <a:xfrm>
                <a:off x="11145013" y="2821279"/>
                <a:ext cx="4651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Fin</a:t>
                </a:r>
              </a:p>
            </p:txBody>
          </p:sp>
          <p:sp>
            <p:nvSpPr>
              <p:cNvPr id="57" name="ZoneTexte 56">
                <a:extLst>
                  <a:ext uri="{FF2B5EF4-FFF2-40B4-BE49-F238E27FC236}">
                    <a16:creationId xmlns:a16="http://schemas.microsoft.com/office/drawing/2014/main" id="{AD90076D-4045-00A3-6F4D-801AD56677D2}"/>
                  </a:ext>
                </a:extLst>
              </p:cNvPr>
              <p:cNvSpPr txBox="1"/>
              <p:nvPr/>
            </p:nvSpPr>
            <p:spPr>
              <a:xfrm>
                <a:off x="10827212" y="3378891"/>
                <a:ext cx="65008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000" dirty="0"/>
                  <a:t>122</a:t>
                </a:r>
              </a:p>
            </p:txBody>
          </p:sp>
          <p:sp>
            <p:nvSpPr>
              <p:cNvPr id="58" name="ZoneTexte 57">
                <a:extLst>
                  <a:ext uri="{FF2B5EF4-FFF2-40B4-BE49-F238E27FC236}">
                    <a16:creationId xmlns:a16="http://schemas.microsoft.com/office/drawing/2014/main" id="{11661A39-7E55-F0FC-578B-1B8F93C24E3A}"/>
                  </a:ext>
                </a:extLst>
              </p:cNvPr>
              <p:cNvSpPr txBox="1"/>
              <p:nvPr/>
            </p:nvSpPr>
            <p:spPr>
              <a:xfrm>
                <a:off x="11285165" y="3399443"/>
                <a:ext cx="65008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000" dirty="0"/>
                  <a:t>122</a:t>
                </a:r>
              </a:p>
            </p:txBody>
          </p:sp>
          <p:sp>
            <p:nvSpPr>
              <p:cNvPr id="59" name="Ellipse 58">
                <a:extLst>
                  <a:ext uri="{FF2B5EF4-FFF2-40B4-BE49-F238E27FC236}">
                    <a16:creationId xmlns:a16="http://schemas.microsoft.com/office/drawing/2014/main" id="{9B656E92-AB37-B79C-0F89-9EBCCD55D333}"/>
                  </a:ext>
                </a:extLst>
              </p:cNvPr>
              <p:cNvSpPr/>
              <p:nvPr/>
            </p:nvSpPr>
            <p:spPr>
              <a:xfrm>
                <a:off x="4795837" y="3198328"/>
                <a:ext cx="1300163" cy="122872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67" name="Connecteur droit 66">
                <a:extLst>
                  <a:ext uri="{FF2B5EF4-FFF2-40B4-BE49-F238E27FC236}">
                    <a16:creationId xmlns:a16="http://schemas.microsoft.com/office/drawing/2014/main" id="{19637655-F9E4-16BC-D189-315F2B65B47E}"/>
                  </a:ext>
                </a:extLst>
              </p:cNvPr>
              <p:cNvCxnSpPr>
                <a:cxnSpLocks/>
                <a:stCxn id="59" idx="2"/>
                <a:endCxn id="59" idx="6"/>
              </p:cNvCxnSpPr>
              <p:nvPr/>
            </p:nvCxnSpPr>
            <p:spPr>
              <a:xfrm>
                <a:off x="4795837" y="3812691"/>
                <a:ext cx="130016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Connecteur droit 67">
                <a:extLst>
                  <a:ext uri="{FF2B5EF4-FFF2-40B4-BE49-F238E27FC236}">
                    <a16:creationId xmlns:a16="http://schemas.microsoft.com/office/drawing/2014/main" id="{21CDF265-CFD1-9422-B21E-33BDE6C0B945}"/>
                  </a:ext>
                </a:extLst>
              </p:cNvPr>
              <p:cNvCxnSpPr>
                <a:endCxn id="59" idx="4"/>
              </p:cNvCxnSpPr>
              <p:nvPr/>
            </p:nvCxnSpPr>
            <p:spPr>
              <a:xfrm>
                <a:off x="5445918" y="3812690"/>
                <a:ext cx="1" cy="61436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ZoneTexte 68">
                <a:extLst>
                  <a:ext uri="{FF2B5EF4-FFF2-40B4-BE49-F238E27FC236}">
                    <a16:creationId xmlns:a16="http://schemas.microsoft.com/office/drawing/2014/main" id="{4FE28289-7B8B-5BE1-3DAB-85FD564C32D4}"/>
                  </a:ext>
                </a:extLst>
              </p:cNvPr>
              <p:cNvSpPr txBox="1"/>
              <p:nvPr/>
            </p:nvSpPr>
            <p:spPr>
              <a:xfrm>
                <a:off x="5323509" y="3377927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2</a:t>
                </a:r>
              </a:p>
            </p:txBody>
          </p:sp>
          <p:sp>
            <p:nvSpPr>
              <p:cNvPr id="70" name="ZoneTexte 69">
                <a:extLst>
                  <a:ext uri="{FF2B5EF4-FFF2-40B4-BE49-F238E27FC236}">
                    <a16:creationId xmlns:a16="http://schemas.microsoft.com/office/drawing/2014/main" id="{B9A03135-5302-0947-65E7-81E95CA136C8}"/>
                  </a:ext>
                </a:extLst>
              </p:cNvPr>
              <p:cNvSpPr txBox="1"/>
              <p:nvPr/>
            </p:nvSpPr>
            <p:spPr>
              <a:xfrm>
                <a:off x="4954741" y="3907718"/>
                <a:ext cx="65008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000" dirty="0"/>
                  <a:t>32</a:t>
                </a:r>
              </a:p>
            </p:txBody>
          </p:sp>
          <p:sp>
            <p:nvSpPr>
              <p:cNvPr id="71" name="ZoneTexte 70">
                <a:extLst>
                  <a:ext uri="{FF2B5EF4-FFF2-40B4-BE49-F238E27FC236}">
                    <a16:creationId xmlns:a16="http://schemas.microsoft.com/office/drawing/2014/main" id="{25EDA649-2442-17A9-C1D9-C28FFDE43A18}"/>
                  </a:ext>
                </a:extLst>
              </p:cNvPr>
              <p:cNvSpPr txBox="1"/>
              <p:nvPr/>
            </p:nvSpPr>
            <p:spPr>
              <a:xfrm>
                <a:off x="5388773" y="3869845"/>
                <a:ext cx="65008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000" dirty="0"/>
                  <a:t>32</a:t>
                </a:r>
              </a:p>
            </p:txBody>
          </p:sp>
          <p:sp>
            <p:nvSpPr>
              <p:cNvPr id="72" name="Ellipse 71">
                <a:extLst>
                  <a:ext uri="{FF2B5EF4-FFF2-40B4-BE49-F238E27FC236}">
                    <a16:creationId xmlns:a16="http://schemas.microsoft.com/office/drawing/2014/main" id="{5E0E07E0-D0AD-2184-D83B-3476E9F454BD}"/>
                  </a:ext>
                </a:extLst>
              </p:cNvPr>
              <p:cNvSpPr/>
              <p:nvPr/>
            </p:nvSpPr>
            <p:spPr>
              <a:xfrm>
                <a:off x="4463874" y="842931"/>
                <a:ext cx="1300163" cy="122872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73" name="Connecteur droit 72">
                <a:extLst>
                  <a:ext uri="{FF2B5EF4-FFF2-40B4-BE49-F238E27FC236}">
                    <a16:creationId xmlns:a16="http://schemas.microsoft.com/office/drawing/2014/main" id="{D4541766-2AFE-308B-88BA-D5BCC90D6B84}"/>
                  </a:ext>
                </a:extLst>
              </p:cNvPr>
              <p:cNvCxnSpPr>
                <a:cxnSpLocks/>
                <a:stCxn id="72" idx="2"/>
                <a:endCxn id="72" idx="6"/>
              </p:cNvCxnSpPr>
              <p:nvPr/>
            </p:nvCxnSpPr>
            <p:spPr>
              <a:xfrm>
                <a:off x="4463874" y="1457294"/>
                <a:ext cx="130016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Connecteur droit 73">
                <a:extLst>
                  <a:ext uri="{FF2B5EF4-FFF2-40B4-BE49-F238E27FC236}">
                    <a16:creationId xmlns:a16="http://schemas.microsoft.com/office/drawing/2014/main" id="{FD86BC9E-FD9A-A149-51C7-67E7C3A38AA3}"/>
                  </a:ext>
                </a:extLst>
              </p:cNvPr>
              <p:cNvCxnSpPr>
                <a:endCxn id="72" idx="4"/>
              </p:cNvCxnSpPr>
              <p:nvPr/>
            </p:nvCxnSpPr>
            <p:spPr>
              <a:xfrm>
                <a:off x="5113955" y="1457293"/>
                <a:ext cx="1" cy="61436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ZoneTexte 74">
                <a:extLst>
                  <a:ext uri="{FF2B5EF4-FFF2-40B4-BE49-F238E27FC236}">
                    <a16:creationId xmlns:a16="http://schemas.microsoft.com/office/drawing/2014/main" id="{01C35D87-6CB0-5A30-1DD2-AD4260B63F81}"/>
                  </a:ext>
                </a:extLst>
              </p:cNvPr>
              <p:cNvSpPr txBox="1"/>
              <p:nvPr/>
            </p:nvSpPr>
            <p:spPr>
              <a:xfrm>
                <a:off x="5004157" y="103080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3</a:t>
                </a:r>
              </a:p>
            </p:txBody>
          </p:sp>
          <p:sp>
            <p:nvSpPr>
              <p:cNvPr id="77" name="ZoneTexte 76">
                <a:extLst>
                  <a:ext uri="{FF2B5EF4-FFF2-40B4-BE49-F238E27FC236}">
                    <a16:creationId xmlns:a16="http://schemas.microsoft.com/office/drawing/2014/main" id="{C8EB7602-582A-D465-064A-6F48A3028BF5}"/>
                  </a:ext>
                </a:extLst>
              </p:cNvPr>
              <p:cNvSpPr txBox="1"/>
              <p:nvPr/>
            </p:nvSpPr>
            <p:spPr>
              <a:xfrm>
                <a:off x="4506739" y="1483006"/>
                <a:ext cx="65008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000" dirty="0"/>
                  <a:t>37</a:t>
                </a:r>
              </a:p>
            </p:txBody>
          </p:sp>
          <p:sp>
            <p:nvSpPr>
              <p:cNvPr id="78" name="ZoneTexte 77">
                <a:extLst>
                  <a:ext uri="{FF2B5EF4-FFF2-40B4-BE49-F238E27FC236}">
                    <a16:creationId xmlns:a16="http://schemas.microsoft.com/office/drawing/2014/main" id="{27D71004-CE4F-AB10-F092-01CC0F6F9357}"/>
                  </a:ext>
                </a:extLst>
              </p:cNvPr>
              <p:cNvSpPr txBox="1"/>
              <p:nvPr/>
            </p:nvSpPr>
            <p:spPr>
              <a:xfrm>
                <a:off x="5056810" y="1514448"/>
                <a:ext cx="65008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000" dirty="0"/>
                  <a:t>95</a:t>
                </a:r>
              </a:p>
            </p:txBody>
          </p:sp>
          <p:sp>
            <p:nvSpPr>
              <p:cNvPr id="79" name="Ellipse 78">
                <a:extLst>
                  <a:ext uri="{FF2B5EF4-FFF2-40B4-BE49-F238E27FC236}">
                    <a16:creationId xmlns:a16="http://schemas.microsoft.com/office/drawing/2014/main" id="{C266F5A9-5616-9CCA-1D90-CC825D2DAC9E}"/>
                  </a:ext>
                </a:extLst>
              </p:cNvPr>
              <p:cNvSpPr/>
              <p:nvPr/>
            </p:nvSpPr>
            <p:spPr>
              <a:xfrm>
                <a:off x="7677605" y="842931"/>
                <a:ext cx="1300163" cy="122872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80" name="Connecteur droit 79">
                <a:extLst>
                  <a:ext uri="{FF2B5EF4-FFF2-40B4-BE49-F238E27FC236}">
                    <a16:creationId xmlns:a16="http://schemas.microsoft.com/office/drawing/2014/main" id="{F0D63165-03AF-5D97-D735-2DEDC7BD4B75}"/>
                  </a:ext>
                </a:extLst>
              </p:cNvPr>
              <p:cNvCxnSpPr>
                <a:cxnSpLocks/>
                <a:stCxn id="79" idx="2"/>
                <a:endCxn id="79" idx="6"/>
              </p:cNvCxnSpPr>
              <p:nvPr/>
            </p:nvCxnSpPr>
            <p:spPr>
              <a:xfrm>
                <a:off x="7677605" y="1457294"/>
                <a:ext cx="130016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Connecteur droit 80">
                <a:extLst>
                  <a:ext uri="{FF2B5EF4-FFF2-40B4-BE49-F238E27FC236}">
                    <a16:creationId xmlns:a16="http://schemas.microsoft.com/office/drawing/2014/main" id="{B1CB1DCE-CBE2-5EDD-E792-5BCD5D1D3C22}"/>
                  </a:ext>
                </a:extLst>
              </p:cNvPr>
              <p:cNvCxnSpPr>
                <a:endCxn id="79" idx="4"/>
              </p:cNvCxnSpPr>
              <p:nvPr/>
            </p:nvCxnSpPr>
            <p:spPr>
              <a:xfrm>
                <a:off x="8327686" y="1457293"/>
                <a:ext cx="1" cy="61436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ZoneTexte 81">
                <a:extLst>
                  <a:ext uri="{FF2B5EF4-FFF2-40B4-BE49-F238E27FC236}">
                    <a16:creationId xmlns:a16="http://schemas.microsoft.com/office/drawing/2014/main" id="{BE7D300C-4CDF-4FF0-B725-019C7AF5542E}"/>
                  </a:ext>
                </a:extLst>
              </p:cNvPr>
              <p:cNvSpPr txBox="1"/>
              <p:nvPr/>
            </p:nvSpPr>
            <p:spPr>
              <a:xfrm>
                <a:off x="8204745" y="107224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4</a:t>
                </a:r>
              </a:p>
            </p:txBody>
          </p:sp>
          <p:sp>
            <p:nvSpPr>
              <p:cNvPr id="83" name="ZoneTexte 82">
                <a:extLst>
                  <a:ext uri="{FF2B5EF4-FFF2-40B4-BE49-F238E27FC236}">
                    <a16:creationId xmlns:a16="http://schemas.microsoft.com/office/drawing/2014/main" id="{204C16A1-7CEA-BC02-EC56-8491DCC8B014}"/>
                  </a:ext>
                </a:extLst>
              </p:cNvPr>
              <p:cNvSpPr txBox="1"/>
              <p:nvPr/>
            </p:nvSpPr>
            <p:spPr>
              <a:xfrm>
                <a:off x="7777622" y="1611598"/>
                <a:ext cx="65008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000" dirty="0"/>
                  <a:t>47</a:t>
                </a:r>
              </a:p>
            </p:txBody>
          </p:sp>
          <p:sp>
            <p:nvSpPr>
              <p:cNvPr id="85" name="ZoneTexte 84">
                <a:extLst>
                  <a:ext uri="{FF2B5EF4-FFF2-40B4-BE49-F238E27FC236}">
                    <a16:creationId xmlns:a16="http://schemas.microsoft.com/office/drawing/2014/main" id="{75D4ED4A-0D7E-9495-37A9-AE20341A258B}"/>
                  </a:ext>
                </a:extLst>
              </p:cNvPr>
              <p:cNvSpPr txBox="1"/>
              <p:nvPr/>
            </p:nvSpPr>
            <p:spPr>
              <a:xfrm>
                <a:off x="8349121" y="1599953"/>
                <a:ext cx="65008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000" dirty="0"/>
                  <a:t>105</a:t>
                </a:r>
              </a:p>
            </p:txBody>
          </p:sp>
          <p:sp>
            <p:nvSpPr>
              <p:cNvPr id="87" name="Ellipse 86">
                <a:extLst>
                  <a:ext uri="{FF2B5EF4-FFF2-40B4-BE49-F238E27FC236}">
                    <a16:creationId xmlns:a16="http://schemas.microsoft.com/office/drawing/2014/main" id="{A4259739-3482-2CD4-65A6-AEA09BF51900}"/>
                  </a:ext>
                </a:extLst>
              </p:cNvPr>
              <p:cNvSpPr/>
              <p:nvPr/>
            </p:nvSpPr>
            <p:spPr>
              <a:xfrm>
                <a:off x="7728439" y="3378890"/>
                <a:ext cx="1300163" cy="122872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88" name="Connecteur droit 87">
                <a:extLst>
                  <a:ext uri="{FF2B5EF4-FFF2-40B4-BE49-F238E27FC236}">
                    <a16:creationId xmlns:a16="http://schemas.microsoft.com/office/drawing/2014/main" id="{75446428-D533-1665-EC57-FFFAF55DFF6E}"/>
                  </a:ext>
                </a:extLst>
              </p:cNvPr>
              <p:cNvCxnSpPr>
                <a:cxnSpLocks/>
                <a:stCxn id="87" idx="2"/>
                <a:endCxn id="87" idx="6"/>
              </p:cNvCxnSpPr>
              <p:nvPr/>
            </p:nvCxnSpPr>
            <p:spPr>
              <a:xfrm>
                <a:off x="7728439" y="3993254"/>
                <a:ext cx="130016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Connecteur droit 90">
                <a:extLst>
                  <a:ext uri="{FF2B5EF4-FFF2-40B4-BE49-F238E27FC236}">
                    <a16:creationId xmlns:a16="http://schemas.microsoft.com/office/drawing/2014/main" id="{A53309C7-D28E-24E4-DAD4-7A20B191F072}"/>
                  </a:ext>
                </a:extLst>
              </p:cNvPr>
              <p:cNvCxnSpPr>
                <a:endCxn id="87" idx="4"/>
              </p:cNvCxnSpPr>
              <p:nvPr/>
            </p:nvCxnSpPr>
            <p:spPr>
              <a:xfrm>
                <a:off x="8378520" y="3993252"/>
                <a:ext cx="1" cy="61436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ZoneTexte 92">
                <a:extLst>
                  <a:ext uri="{FF2B5EF4-FFF2-40B4-BE49-F238E27FC236}">
                    <a16:creationId xmlns:a16="http://schemas.microsoft.com/office/drawing/2014/main" id="{4E4B0CAD-EC91-EFB7-6AFF-1947ADE744BF}"/>
                  </a:ext>
                </a:extLst>
              </p:cNvPr>
              <p:cNvSpPr txBox="1"/>
              <p:nvPr/>
            </p:nvSpPr>
            <p:spPr>
              <a:xfrm>
                <a:off x="8270541" y="35667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5</a:t>
                </a:r>
              </a:p>
            </p:txBody>
          </p:sp>
          <p:sp>
            <p:nvSpPr>
              <p:cNvPr id="94" name="ZoneTexte 93">
                <a:extLst>
                  <a:ext uri="{FF2B5EF4-FFF2-40B4-BE49-F238E27FC236}">
                    <a16:creationId xmlns:a16="http://schemas.microsoft.com/office/drawing/2014/main" id="{50825BC9-B2F8-2D32-1964-28B9D723BD3F}"/>
                  </a:ext>
                </a:extLst>
              </p:cNvPr>
              <p:cNvSpPr txBox="1"/>
              <p:nvPr/>
            </p:nvSpPr>
            <p:spPr>
              <a:xfrm>
                <a:off x="7814168" y="4133270"/>
                <a:ext cx="65008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000" dirty="0"/>
                  <a:t>62</a:t>
                </a:r>
              </a:p>
            </p:txBody>
          </p:sp>
          <p:sp>
            <p:nvSpPr>
              <p:cNvPr id="95" name="ZoneTexte 94">
                <a:extLst>
                  <a:ext uri="{FF2B5EF4-FFF2-40B4-BE49-F238E27FC236}">
                    <a16:creationId xmlns:a16="http://schemas.microsoft.com/office/drawing/2014/main" id="{E8934F32-537C-250C-3AD3-E71B09B5E04D}"/>
                  </a:ext>
                </a:extLst>
              </p:cNvPr>
              <p:cNvSpPr txBox="1"/>
              <p:nvPr/>
            </p:nvSpPr>
            <p:spPr>
              <a:xfrm>
                <a:off x="8344821" y="4113280"/>
                <a:ext cx="65008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000" dirty="0"/>
                  <a:t>62</a:t>
                </a:r>
              </a:p>
            </p:txBody>
          </p:sp>
          <p:cxnSp>
            <p:nvCxnSpPr>
              <p:cNvPr id="96" name="Connecteur droit avec flèche 95">
                <a:extLst>
                  <a:ext uri="{FF2B5EF4-FFF2-40B4-BE49-F238E27FC236}">
                    <a16:creationId xmlns:a16="http://schemas.microsoft.com/office/drawing/2014/main" id="{4D622277-2B28-2064-0A9E-571E01A1EBAC}"/>
                  </a:ext>
                </a:extLst>
              </p:cNvPr>
              <p:cNvCxnSpPr>
                <a:cxnSpLocks/>
                <a:stCxn id="87" idx="6"/>
              </p:cNvCxnSpPr>
              <p:nvPr/>
            </p:nvCxnSpPr>
            <p:spPr>
              <a:xfrm flipV="1">
                <a:off x="9028602" y="3597614"/>
                <a:ext cx="1798610" cy="39564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Connecteur droit avec flèche 96">
                <a:extLst>
                  <a:ext uri="{FF2B5EF4-FFF2-40B4-BE49-F238E27FC236}">
                    <a16:creationId xmlns:a16="http://schemas.microsoft.com/office/drawing/2014/main" id="{D57E4EC8-3D99-5440-F1C3-B094A71AF65C}"/>
                  </a:ext>
                </a:extLst>
              </p:cNvPr>
              <p:cNvCxnSpPr>
                <a:stCxn id="79" idx="6"/>
                <a:endCxn id="53" idx="1"/>
              </p:cNvCxnSpPr>
              <p:nvPr/>
            </p:nvCxnSpPr>
            <p:spPr>
              <a:xfrm>
                <a:off x="8977768" y="1457294"/>
                <a:ext cx="1897300" cy="135075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ZoneTexte 97">
                <a:extLst>
                  <a:ext uri="{FF2B5EF4-FFF2-40B4-BE49-F238E27FC236}">
                    <a16:creationId xmlns:a16="http://schemas.microsoft.com/office/drawing/2014/main" id="{287B4AEB-8D13-32F8-014B-F62844A7079E}"/>
                  </a:ext>
                </a:extLst>
              </p:cNvPr>
              <p:cNvSpPr txBox="1"/>
              <p:nvPr/>
            </p:nvSpPr>
            <p:spPr>
              <a:xfrm>
                <a:off x="9761493" y="1634627"/>
                <a:ext cx="5918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>
                    <a:latin typeface="Book Antiqua" panose="02040602050305030304" pitchFamily="18" charset="0"/>
                  </a:rPr>
                  <a:t>G17</a:t>
                </a:r>
              </a:p>
            </p:txBody>
          </p:sp>
          <p:sp>
            <p:nvSpPr>
              <p:cNvPr id="99" name="ZoneTexte 98">
                <a:extLst>
                  <a:ext uri="{FF2B5EF4-FFF2-40B4-BE49-F238E27FC236}">
                    <a16:creationId xmlns:a16="http://schemas.microsoft.com/office/drawing/2014/main" id="{F2C99B7A-44AD-694C-52A9-211B91DB2FF5}"/>
                  </a:ext>
                </a:extLst>
              </p:cNvPr>
              <p:cNvSpPr txBox="1"/>
              <p:nvPr/>
            </p:nvSpPr>
            <p:spPr>
              <a:xfrm>
                <a:off x="9659685" y="3842645"/>
                <a:ext cx="5565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>
                    <a:latin typeface="Book Antiqua" panose="02040602050305030304" pitchFamily="18" charset="0"/>
                  </a:rPr>
                  <a:t>E60</a:t>
                </a:r>
              </a:p>
            </p:txBody>
          </p:sp>
          <p:cxnSp>
            <p:nvCxnSpPr>
              <p:cNvPr id="100" name="Connecteur droit avec flèche 99">
                <a:extLst>
                  <a:ext uri="{FF2B5EF4-FFF2-40B4-BE49-F238E27FC236}">
                    <a16:creationId xmlns:a16="http://schemas.microsoft.com/office/drawing/2014/main" id="{C9506D75-C072-E6D6-7649-F04CC601C6F5}"/>
                  </a:ext>
                </a:extLst>
              </p:cNvPr>
              <p:cNvCxnSpPr>
                <a:stCxn id="72" idx="6"/>
                <a:endCxn id="79" idx="2"/>
              </p:cNvCxnSpPr>
              <p:nvPr/>
            </p:nvCxnSpPr>
            <p:spPr>
              <a:xfrm>
                <a:off x="5764037" y="1457294"/>
                <a:ext cx="1913568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Connecteur droit avec flèche 100">
                <a:extLst>
                  <a:ext uri="{FF2B5EF4-FFF2-40B4-BE49-F238E27FC236}">
                    <a16:creationId xmlns:a16="http://schemas.microsoft.com/office/drawing/2014/main" id="{50BFBA73-22D9-E704-1970-F74160CA95D3}"/>
                  </a:ext>
                </a:extLst>
              </p:cNvPr>
              <p:cNvCxnSpPr>
                <a:cxnSpLocks/>
                <a:stCxn id="59" idx="6"/>
                <a:endCxn id="87" idx="2"/>
              </p:cNvCxnSpPr>
              <p:nvPr/>
            </p:nvCxnSpPr>
            <p:spPr>
              <a:xfrm>
                <a:off x="6096000" y="3812691"/>
                <a:ext cx="1632439" cy="18056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Connecteur droit avec flèche 101">
                <a:extLst>
                  <a:ext uri="{FF2B5EF4-FFF2-40B4-BE49-F238E27FC236}">
                    <a16:creationId xmlns:a16="http://schemas.microsoft.com/office/drawing/2014/main" id="{13FAFA9B-EEEF-416E-D9D4-34FAB0F012F6}"/>
                  </a:ext>
                </a:extLst>
              </p:cNvPr>
              <p:cNvCxnSpPr>
                <a:cxnSpLocks/>
                <a:stCxn id="24" idx="6"/>
                <a:endCxn id="59" idx="2"/>
              </p:cNvCxnSpPr>
              <p:nvPr/>
            </p:nvCxnSpPr>
            <p:spPr>
              <a:xfrm>
                <a:off x="4006251" y="3114637"/>
                <a:ext cx="789586" cy="69805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Connecteur droit avec flèche 102">
                <a:extLst>
                  <a:ext uri="{FF2B5EF4-FFF2-40B4-BE49-F238E27FC236}">
                    <a16:creationId xmlns:a16="http://schemas.microsoft.com/office/drawing/2014/main" id="{8F543D9D-4C45-32BF-3B3E-280B1FF95989}"/>
                  </a:ext>
                </a:extLst>
              </p:cNvPr>
              <p:cNvCxnSpPr>
                <a:stCxn id="59" idx="0"/>
                <a:endCxn id="72" idx="4"/>
              </p:cNvCxnSpPr>
              <p:nvPr/>
            </p:nvCxnSpPr>
            <p:spPr>
              <a:xfrm flipH="1" flipV="1">
                <a:off x="5113956" y="2071656"/>
                <a:ext cx="331963" cy="112667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ZoneTexte 103">
                <a:extLst>
                  <a:ext uri="{FF2B5EF4-FFF2-40B4-BE49-F238E27FC236}">
                    <a16:creationId xmlns:a16="http://schemas.microsoft.com/office/drawing/2014/main" id="{90CB46B3-36D8-8E3C-475A-D25807B463AC}"/>
                  </a:ext>
                </a:extLst>
              </p:cNvPr>
              <p:cNvSpPr txBox="1"/>
              <p:nvPr/>
            </p:nvSpPr>
            <p:spPr>
              <a:xfrm>
                <a:off x="4252017" y="3110983"/>
                <a:ext cx="5790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>
                    <a:latin typeface="Book Antiqua" panose="02040602050305030304" pitchFamily="18" charset="0"/>
                  </a:rPr>
                  <a:t>C20</a:t>
                </a:r>
              </a:p>
            </p:txBody>
          </p:sp>
          <p:sp>
            <p:nvSpPr>
              <p:cNvPr id="105" name="ZoneTexte 104">
                <a:extLst>
                  <a:ext uri="{FF2B5EF4-FFF2-40B4-BE49-F238E27FC236}">
                    <a16:creationId xmlns:a16="http://schemas.microsoft.com/office/drawing/2014/main" id="{63FC05E5-B682-10F3-7F74-FDCFF281DECF}"/>
                  </a:ext>
                </a:extLst>
              </p:cNvPr>
              <p:cNvSpPr txBox="1"/>
              <p:nvPr/>
            </p:nvSpPr>
            <p:spPr>
              <a:xfrm>
                <a:off x="5315476" y="2333109"/>
                <a:ext cx="4283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>
                    <a:latin typeface="Book Antiqua" panose="02040602050305030304" pitchFamily="18" charset="0"/>
                  </a:rPr>
                  <a:t>F5</a:t>
                </a:r>
              </a:p>
            </p:txBody>
          </p:sp>
          <p:sp>
            <p:nvSpPr>
              <p:cNvPr id="106" name="ZoneTexte 105">
                <a:extLst>
                  <a:ext uri="{FF2B5EF4-FFF2-40B4-BE49-F238E27FC236}">
                    <a16:creationId xmlns:a16="http://schemas.microsoft.com/office/drawing/2014/main" id="{BF78E96F-0B24-340B-B579-0F391C871B35}"/>
                  </a:ext>
                </a:extLst>
              </p:cNvPr>
              <p:cNvSpPr txBox="1"/>
              <p:nvPr/>
            </p:nvSpPr>
            <p:spPr>
              <a:xfrm>
                <a:off x="6685387" y="3586191"/>
                <a:ext cx="5950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>
                    <a:latin typeface="Book Antiqua" panose="02040602050305030304" pitchFamily="18" charset="0"/>
                  </a:rPr>
                  <a:t>A30</a:t>
                </a:r>
              </a:p>
            </p:txBody>
          </p:sp>
          <p:sp>
            <p:nvSpPr>
              <p:cNvPr id="107" name="ZoneTexte 106">
                <a:extLst>
                  <a:ext uri="{FF2B5EF4-FFF2-40B4-BE49-F238E27FC236}">
                    <a16:creationId xmlns:a16="http://schemas.microsoft.com/office/drawing/2014/main" id="{7A257628-7370-0E6A-6877-D28515ABE3EB}"/>
                  </a:ext>
                </a:extLst>
              </p:cNvPr>
              <p:cNvSpPr txBox="1"/>
              <p:nvPr/>
            </p:nvSpPr>
            <p:spPr>
              <a:xfrm>
                <a:off x="6257654" y="1113674"/>
                <a:ext cx="5565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>
                    <a:latin typeface="Book Antiqua" panose="02040602050305030304" pitchFamily="18" charset="0"/>
                  </a:rPr>
                  <a:t>B10</a:t>
                </a:r>
              </a:p>
            </p:txBody>
          </p:sp>
        </p:grp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46FDB068-766C-D156-3DE1-09854C8E2FBD}"/>
                </a:ext>
              </a:extLst>
            </p:cNvPr>
            <p:cNvSpPr/>
            <p:nvPr/>
          </p:nvSpPr>
          <p:spPr>
            <a:xfrm>
              <a:off x="1564640" y="5527040"/>
              <a:ext cx="101600" cy="1828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CE931657-E40E-8047-E4E0-7C935809E9DD}"/>
                </a:ext>
              </a:extLst>
            </p:cNvPr>
            <p:cNvSpPr/>
            <p:nvPr/>
          </p:nvSpPr>
          <p:spPr>
            <a:xfrm>
              <a:off x="3649466" y="5477132"/>
              <a:ext cx="201405" cy="1553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C7C06414-56C9-0628-88A2-BEF49503A245}"/>
                </a:ext>
              </a:extLst>
            </p:cNvPr>
            <p:cNvSpPr/>
            <p:nvPr/>
          </p:nvSpPr>
          <p:spPr>
            <a:xfrm>
              <a:off x="5040448" y="4015407"/>
              <a:ext cx="264955" cy="2018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4ABEC7A3-FC3B-1896-2974-7EA746106376}"/>
                </a:ext>
              </a:extLst>
            </p:cNvPr>
            <p:cNvSpPr/>
            <p:nvPr/>
          </p:nvSpPr>
          <p:spPr>
            <a:xfrm>
              <a:off x="5305404" y="5977776"/>
              <a:ext cx="176411" cy="1907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890C279A-B9C2-BEB6-7AAB-C98F43976993}"/>
                </a:ext>
              </a:extLst>
            </p:cNvPr>
            <p:cNvSpPr/>
            <p:nvPr/>
          </p:nvSpPr>
          <p:spPr>
            <a:xfrm>
              <a:off x="7758773" y="6178277"/>
              <a:ext cx="150386" cy="1952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C9942F45-1A9B-8305-FD1E-C76F6EE60B62}"/>
                </a:ext>
              </a:extLst>
            </p:cNvPr>
            <p:cNvSpPr/>
            <p:nvPr/>
          </p:nvSpPr>
          <p:spPr>
            <a:xfrm>
              <a:off x="10187436" y="5605187"/>
              <a:ext cx="193653" cy="2267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884CA6D6-67DD-D20E-D507-22A604D20C9E}"/>
                </a:ext>
              </a:extLst>
            </p:cNvPr>
            <p:cNvSpPr/>
            <p:nvPr/>
          </p:nvSpPr>
          <p:spPr>
            <a:xfrm>
              <a:off x="7758773" y="4088153"/>
              <a:ext cx="217896" cy="16866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aphicFrame>
        <p:nvGraphicFramePr>
          <p:cNvPr id="4" name="Tableau 2">
            <a:extLst>
              <a:ext uri="{FF2B5EF4-FFF2-40B4-BE49-F238E27FC236}">
                <a16:creationId xmlns:a16="http://schemas.microsoft.com/office/drawing/2014/main" id="{FA791ADA-7E90-07B1-9C98-114C20475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091791"/>
              </p:ext>
            </p:extLst>
          </p:nvPr>
        </p:nvGraphicFramePr>
        <p:xfrm>
          <a:off x="136889" y="1171137"/>
          <a:ext cx="6135181" cy="292615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515383">
                  <a:extLst>
                    <a:ext uri="{9D8B030D-6E8A-4147-A177-3AD203B41FA5}">
                      <a16:colId xmlns:a16="http://schemas.microsoft.com/office/drawing/2014/main" val="2095251373"/>
                    </a:ext>
                  </a:extLst>
                </a:gridCol>
                <a:gridCol w="1454514">
                  <a:extLst>
                    <a:ext uri="{9D8B030D-6E8A-4147-A177-3AD203B41FA5}">
                      <a16:colId xmlns:a16="http://schemas.microsoft.com/office/drawing/2014/main" val="1546053385"/>
                    </a:ext>
                  </a:extLst>
                </a:gridCol>
                <a:gridCol w="1557359">
                  <a:extLst>
                    <a:ext uri="{9D8B030D-6E8A-4147-A177-3AD203B41FA5}">
                      <a16:colId xmlns:a16="http://schemas.microsoft.com/office/drawing/2014/main" val="766829145"/>
                    </a:ext>
                  </a:extLst>
                </a:gridCol>
                <a:gridCol w="1607925">
                  <a:extLst>
                    <a:ext uri="{9D8B030D-6E8A-4147-A177-3AD203B41FA5}">
                      <a16:colId xmlns:a16="http://schemas.microsoft.com/office/drawing/2014/main" val="1766205267"/>
                    </a:ext>
                  </a:extLst>
                </a:gridCol>
              </a:tblGrid>
              <a:tr h="327364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Tâche</a:t>
                      </a:r>
                    </a:p>
                  </a:txBody>
                  <a:tcPr>
                    <a:solidFill>
                      <a:srgbClr val="62BD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Durée</a:t>
                      </a:r>
                    </a:p>
                  </a:txBody>
                  <a:tcPr>
                    <a:solidFill>
                      <a:srgbClr val="62BD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Prédécesseurs</a:t>
                      </a:r>
                    </a:p>
                  </a:txBody>
                  <a:tcPr>
                    <a:solidFill>
                      <a:srgbClr val="62BD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Successeurs</a:t>
                      </a:r>
                    </a:p>
                  </a:txBody>
                  <a:tcPr>
                    <a:solidFill>
                      <a:srgbClr val="62BD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253481"/>
                  </a:ext>
                </a:extLst>
              </a:tr>
              <a:tr h="32736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/>
                        <a:t>A</a:t>
                      </a:r>
                      <a:endParaRPr sz="18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30</a:t>
                      </a:r>
                      <a:endParaRPr sz="18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C</a:t>
                      </a:r>
                      <a:endParaRPr sz="18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E</a:t>
                      </a:r>
                      <a:endParaRPr sz="18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195348"/>
                  </a:ext>
                </a:extLst>
              </a:tr>
              <a:tr h="32736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B</a:t>
                      </a:r>
                      <a:endParaRPr sz="18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/>
                        <a:t>10</a:t>
                      </a:r>
                      <a:endParaRPr sz="16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F</a:t>
                      </a:r>
                      <a:endParaRPr sz="18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/>
                        <a:t>G</a:t>
                      </a:r>
                      <a:endParaRPr sz="18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967042"/>
                  </a:ext>
                </a:extLst>
              </a:tr>
              <a:tr h="32736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C</a:t>
                      </a:r>
                      <a:endParaRPr sz="18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20</a:t>
                      </a:r>
                      <a:endParaRPr sz="16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/>
                        <a:t>D</a:t>
                      </a:r>
                      <a:endParaRPr sz="18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A, F</a:t>
                      </a:r>
                      <a:endParaRPr sz="18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942579"/>
                  </a:ext>
                </a:extLst>
              </a:tr>
              <a:tr h="32736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D</a:t>
                      </a:r>
                      <a:endParaRPr sz="18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/>
                        <a:t>12</a:t>
                      </a:r>
                      <a:endParaRPr sz="16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/>
                        <a:t>-</a:t>
                      </a:r>
                      <a:endParaRPr sz="18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C</a:t>
                      </a:r>
                      <a:endParaRPr sz="18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567976"/>
                  </a:ext>
                </a:extLst>
              </a:tr>
              <a:tr h="32736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E</a:t>
                      </a:r>
                      <a:endParaRPr sz="18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/>
                        <a:t>60</a:t>
                      </a:r>
                      <a:endParaRPr sz="18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/>
                        <a:t>A</a:t>
                      </a:r>
                      <a:endParaRPr sz="18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/>
                        <a:t>-</a:t>
                      </a:r>
                      <a:endParaRPr sz="18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147117"/>
                  </a:ext>
                </a:extLst>
              </a:tr>
              <a:tr h="32736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F</a:t>
                      </a:r>
                      <a:endParaRPr sz="18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5</a:t>
                      </a:r>
                      <a:endParaRPr sz="16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/>
                        <a:t>C</a:t>
                      </a:r>
                      <a:endParaRPr sz="18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B</a:t>
                      </a:r>
                      <a:endParaRPr sz="18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170213"/>
                  </a:ext>
                </a:extLst>
              </a:tr>
              <a:tr h="32736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G</a:t>
                      </a:r>
                      <a:endParaRPr sz="18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17</a:t>
                      </a:r>
                      <a:endParaRPr sz="180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/>
                        <a:t>B</a:t>
                      </a:r>
                      <a:endParaRPr sz="18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dirty="0"/>
                        <a:t>-</a:t>
                      </a:r>
                      <a:endParaRPr sz="1800" dirty="0"/>
                    </a:p>
                  </a:txBody>
                  <a:tcPr marL="91450" marR="91450" marT="45725" marB="45725">
                    <a:solidFill>
                      <a:srgbClr val="D1EB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662875"/>
                  </a:ext>
                </a:extLst>
              </a:tr>
            </a:tbl>
          </a:graphicData>
        </a:graphic>
      </p:graphicFrame>
      <p:sp>
        <p:nvSpPr>
          <p:cNvPr id="17" name="ZoneTexte 16">
            <a:extLst>
              <a:ext uri="{FF2B5EF4-FFF2-40B4-BE49-F238E27FC236}">
                <a16:creationId xmlns:a16="http://schemas.microsoft.com/office/drawing/2014/main" id="{03DF8F70-7239-F821-0F57-F5F2FF81D4E5}"/>
              </a:ext>
            </a:extLst>
          </p:cNvPr>
          <p:cNvSpPr txBox="1"/>
          <p:nvPr/>
        </p:nvSpPr>
        <p:spPr>
          <a:xfrm>
            <a:off x="136889" y="6459227"/>
            <a:ext cx="9459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En savoir plus sur le diagramme PERT </a:t>
            </a:r>
            <a:r>
              <a:rPr lang="fr-FR" sz="1400" b="1" u="sng" dirty="0">
                <a:hlinkClick r:id="rId2"/>
              </a:rPr>
              <a:t>dans ce tutoriel</a:t>
            </a:r>
            <a:r>
              <a:rPr lang="fr-FR" sz="1400" dirty="0"/>
              <a:t>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E7BE3F-D011-6FB2-9FDE-D5DA43D58108}"/>
              </a:ext>
            </a:extLst>
          </p:cNvPr>
          <p:cNvSpPr/>
          <p:nvPr/>
        </p:nvSpPr>
        <p:spPr>
          <a:xfrm>
            <a:off x="0" y="0"/>
            <a:ext cx="12192000" cy="6502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C6CEE365-3DC4-D29F-9027-D3852A200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9080" y="121600"/>
            <a:ext cx="8326120" cy="454322"/>
          </a:xfrm>
        </p:spPr>
        <p:txBody>
          <a:bodyPr>
            <a:normAutofit/>
          </a:bodyPr>
          <a:lstStyle/>
          <a:p>
            <a:pPr algn="ctr"/>
            <a:r>
              <a:rPr lang="fr-FR" sz="2400" b="1" dirty="0">
                <a:solidFill>
                  <a:srgbClr val="004837"/>
                </a:solidFill>
                <a:latin typeface="Century Gothic" panose="020B0502020202020204" pitchFamily="34" charset="0"/>
              </a:rPr>
              <a:t>5. Dessiner le réseau PERT 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27A0DFB0-0C4C-5363-C1ED-F0FF06920D05}"/>
              </a:ext>
            </a:extLst>
          </p:cNvPr>
          <p:cNvSpPr txBox="1"/>
          <p:nvPr/>
        </p:nvSpPr>
        <p:spPr>
          <a:xfrm>
            <a:off x="1376423" y="750768"/>
            <a:ext cx="3312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004837"/>
                </a:solidFill>
                <a:latin typeface="Century Gothic" panose="020B0502020202020204" pitchFamily="34" charset="0"/>
              </a:rPr>
              <a:t>Tableau des tâches</a:t>
            </a:r>
          </a:p>
        </p:txBody>
      </p:sp>
    </p:spTree>
    <p:extLst>
      <p:ext uri="{BB962C8B-B14F-4D97-AF65-F5344CB8AC3E}">
        <p14:creationId xmlns:p14="http://schemas.microsoft.com/office/powerpoint/2010/main" val="3144564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886601C0-E629-6A96-1BEF-D9553F0E3944}"/>
              </a:ext>
            </a:extLst>
          </p:cNvPr>
          <p:cNvSpPr txBox="1"/>
          <p:nvPr/>
        </p:nvSpPr>
        <p:spPr>
          <a:xfrm>
            <a:off x="325121" y="859483"/>
            <a:ext cx="7061199" cy="3893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00" b="1" dirty="0">
                <a:latin typeface="Century Gothic" panose="020B0502020202020204" pitchFamily="34" charset="0"/>
              </a:rPr>
              <a:t>Etapes à suivre pour définir le chemin critique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300" dirty="0">
                <a:latin typeface="Century Gothic" panose="020B0502020202020204" pitchFamily="34" charset="0"/>
              </a:rPr>
              <a:t>Identifier le nombre de chemins 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FR" sz="1300" dirty="0">
                <a:latin typeface="Century Gothic" panose="020B0502020202020204" pitchFamily="34" charset="0"/>
              </a:rPr>
              <a:t>Dans cet exemple : 2 chemins (</a:t>
            </a:r>
            <a:r>
              <a:rPr lang="da-DK" sz="1300" dirty="0">
                <a:latin typeface="Century Gothic" panose="020B0502020202020204" pitchFamily="34" charset="0"/>
              </a:rPr>
              <a:t>D, C, F, B et G) et (D, C, A, E)</a:t>
            </a:r>
            <a:endParaRPr lang="fr-FR" sz="1300" dirty="0">
              <a:latin typeface="Century Gothic" panose="020B0502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1300" dirty="0">
                <a:latin typeface="Century Gothic" panose="020B0502020202020204" pitchFamily="34" charset="0"/>
              </a:rPr>
              <a:t>Calculer le total des durées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FR" sz="1300" dirty="0">
                <a:latin typeface="Century Gothic" panose="020B0502020202020204" pitchFamily="34" charset="0"/>
              </a:rPr>
              <a:t>Ici : 1er chemin D, C, F, B et G, dure 64 jours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FR" sz="1300" dirty="0">
                <a:latin typeface="Century Gothic" panose="020B0502020202020204" pitchFamily="34" charset="0"/>
              </a:rPr>
              <a:t>2ème chemin D, C, A, E. Il dure 122 jours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300" dirty="0">
                <a:latin typeface="Century Gothic" panose="020B0502020202020204" pitchFamily="34" charset="0"/>
              </a:rPr>
              <a:t>Définir le chemin critique (le plus long)</a:t>
            </a:r>
          </a:p>
          <a:p>
            <a:pPr marL="800100" lvl="1" indent="-342900">
              <a:buFont typeface="+mj-lt"/>
              <a:buAutoNum type="arabicPeriod"/>
            </a:pPr>
            <a:r>
              <a:rPr lang="fr-FR" sz="1300" dirty="0">
                <a:latin typeface="Century Gothic" panose="020B0502020202020204" pitchFamily="34" charset="0"/>
              </a:rPr>
              <a:t>Ici : Le </a:t>
            </a:r>
            <a:r>
              <a:rPr lang="fr-FR" sz="1300" b="1" dirty="0">
                <a:latin typeface="Century Gothic" panose="020B0502020202020204" pitchFamily="34" charset="0"/>
              </a:rPr>
              <a:t>chemin critique est donc le 2ème : D, C, A, E </a:t>
            </a:r>
          </a:p>
          <a:p>
            <a:pPr marL="742950" lvl="1" indent="-285750">
              <a:buFont typeface="Symbol" panose="05050102010706020507" pitchFamily="18" charset="2"/>
              <a:buChar char="Þ"/>
            </a:pPr>
            <a:r>
              <a:rPr lang="fr-FR" sz="1300" dirty="0">
                <a:latin typeface="Century Gothic" panose="020B0502020202020204" pitchFamily="34" charset="0"/>
              </a:rPr>
              <a:t>La date de fin au plutôt du projet est 122 jours à partir de son démarrage</a:t>
            </a:r>
            <a:r>
              <a:rPr lang="fr-FR" sz="1300" b="0" i="0" dirty="0">
                <a:solidFill>
                  <a:srgbClr val="0C1115"/>
                </a:solidFill>
                <a:effectLst/>
                <a:latin typeface="Century Gothic" panose="020B0502020202020204" pitchFamily="34" charset="0"/>
              </a:rPr>
              <a:t>.</a:t>
            </a:r>
          </a:p>
          <a:p>
            <a:pPr marL="742950" lvl="1" indent="-285750">
              <a:buFont typeface="Symbol" panose="05050102010706020507" pitchFamily="18" charset="2"/>
              <a:buChar char="Þ"/>
            </a:pPr>
            <a:r>
              <a:rPr lang="fr-FR" sz="1300" dirty="0">
                <a:latin typeface="Century Gothic" panose="020B0502020202020204" pitchFamily="34" charset="0"/>
              </a:rPr>
              <a:t>Si l’une des tâches de ce chemin prend du retard, votre projet ne sera pas livré à la date planifiée</a:t>
            </a:r>
          </a:p>
          <a:p>
            <a:pPr marL="742950" lvl="1" indent="-285750">
              <a:buFont typeface="Symbol" panose="05050102010706020507" pitchFamily="18" charset="2"/>
              <a:buChar char="Þ"/>
            </a:pPr>
            <a:r>
              <a:rPr lang="fr-FR" sz="1300" dirty="0">
                <a:latin typeface="Century Gothic" panose="020B0502020202020204" pitchFamily="34" charset="0"/>
              </a:rPr>
              <a:t>Toutes les tâches du chemin critique ont alors une marge nulle. </a:t>
            </a:r>
          </a:p>
          <a:p>
            <a:pPr marL="742950" lvl="1" indent="-285750">
              <a:buFont typeface="Symbol" panose="05050102010706020507" pitchFamily="18" charset="2"/>
              <a:buChar char="Þ"/>
            </a:pPr>
            <a:r>
              <a:rPr lang="fr-FR" sz="1300" dirty="0">
                <a:latin typeface="Century Gothic" panose="020B0502020202020204" pitchFamily="34" charset="0"/>
              </a:rPr>
              <a:t>C’est-à-dire que les dates de démarrage au plus tard et au plus tôt sont identiques.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300" dirty="0">
                <a:latin typeface="Century Gothic" panose="020B0502020202020204" pitchFamily="34" charset="0"/>
              </a:rPr>
              <a:t>Calculer les dates de début au plus tard de chaque tâche</a:t>
            </a:r>
          </a:p>
          <a:p>
            <a:pPr marL="285750" indent="-285750" algn="just" rtl="0">
              <a:buFont typeface="Symbol" panose="05050102010706020507" pitchFamily="18" charset="2"/>
              <a:buChar char="Þ"/>
            </a:pPr>
            <a:r>
              <a:rPr lang="fr-FR" sz="1300" dirty="0">
                <a:latin typeface="Century Gothic" panose="020B0502020202020204" pitchFamily="34" charset="0"/>
              </a:rPr>
              <a:t>Sur l’autre chemin non critique, les tâches B et G ne sont pas critiques. </a:t>
            </a:r>
          </a:p>
          <a:p>
            <a:pPr algn="just" rtl="0"/>
            <a:r>
              <a:rPr lang="fr-FR" sz="1300" dirty="0">
                <a:latin typeface="Century Gothic" panose="020B0502020202020204" pitchFamily="34" charset="0"/>
              </a:rPr>
              <a:t>Cela veut dire qu’elles peuvent avoir du retard.</a:t>
            </a:r>
          </a:p>
          <a:p>
            <a:pPr marL="285750" indent="-285750" algn="just" rtl="0">
              <a:buFont typeface="Symbol" panose="05050102010706020507" pitchFamily="18" charset="2"/>
              <a:buChar char="Þ"/>
            </a:pPr>
            <a:r>
              <a:rPr lang="fr-FR" sz="1300" dirty="0">
                <a:latin typeface="Century Gothic" panose="020B0502020202020204" pitchFamily="34" charset="0"/>
              </a:rPr>
              <a:t>La date au plus tard de G est de 122 – 17, qui est égale à 105</a:t>
            </a:r>
          </a:p>
          <a:p>
            <a:pPr marL="285750" indent="-285750" algn="just" rtl="0">
              <a:buFont typeface="Symbol" panose="05050102010706020507" pitchFamily="18" charset="2"/>
              <a:buChar char="Þ"/>
            </a:pPr>
            <a:r>
              <a:rPr lang="fr-FR" sz="1300" dirty="0">
                <a:latin typeface="Century Gothic" panose="020B0502020202020204" pitchFamily="34" charset="0"/>
              </a:rPr>
              <a:t>La date au plus tard de B est de 105 – 10, qui est égale à 95. 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4BCF99-7B40-8886-D3CC-B081104EDF30}"/>
              </a:ext>
            </a:extLst>
          </p:cNvPr>
          <p:cNvSpPr/>
          <p:nvPr/>
        </p:nvSpPr>
        <p:spPr>
          <a:xfrm>
            <a:off x="0" y="0"/>
            <a:ext cx="12192000" cy="6502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BC98CEE6-F671-517A-D473-9EE74D3AB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9080" y="121600"/>
            <a:ext cx="8326120" cy="454322"/>
          </a:xfrm>
        </p:spPr>
        <p:txBody>
          <a:bodyPr>
            <a:normAutofit/>
          </a:bodyPr>
          <a:lstStyle/>
          <a:p>
            <a:pPr algn="ctr"/>
            <a:r>
              <a:rPr lang="fr-FR" sz="2400" b="1" dirty="0">
                <a:solidFill>
                  <a:srgbClr val="004837"/>
                </a:solidFill>
                <a:latin typeface="Century Gothic" panose="020B0502020202020204" pitchFamily="34" charset="0"/>
              </a:rPr>
              <a:t>6. Définir le chemin critique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686A3571-6B07-473D-A0F7-C7AEA8BC4857}"/>
              </a:ext>
            </a:extLst>
          </p:cNvPr>
          <p:cNvGrpSpPr/>
          <p:nvPr/>
        </p:nvGrpSpPr>
        <p:grpSpPr>
          <a:xfrm>
            <a:off x="3139438" y="4188360"/>
            <a:ext cx="8727441" cy="2438400"/>
            <a:chOff x="164308" y="842931"/>
            <a:chExt cx="11820519" cy="3764685"/>
          </a:xfrm>
        </p:grpSpPr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3F9BA4FC-CC8E-207E-0340-02FB8A9E1C3A}"/>
                </a:ext>
              </a:extLst>
            </p:cNvPr>
            <p:cNvSpPr/>
            <p:nvPr/>
          </p:nvSpPr>
          <p:spPr>
            <a:xfrm>
              <a:off x="164308" y="2514564"/>
              <a:ext cx="1300163" cy="122872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FE4B9000-42DF-520A-5AA1-BE813600E24A}"/>
                </a:ext>
              </a:extLst>
            </p:cNvPr>
            <p:cNvCxnSpPr>
              <a:cxnSpLocks/>
              <a:stCxn id="9" idx="2"/>
              <a:endCxn id="9" idx="6"/>
            </p:cNvCxnSpPr>
            <p:nvPr/>
          </p:nvCxnSpPr>
          <p:spPr>
            <a:xfrm>
              <a:off x="164308" y="3128927"/>
              <a:ext cx="130016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1288E057-7D81-6DB8-96F4-192A6AE8EC17}"/>
                </a:ext>
              </a:extLst>
            </p:cNvPr>
            <p:cNvCxnSpPr>
              <a:endCxn id="9" idx="4"/>
            </p:cNvCxnSpPr>
            <p:nvPr/>
          </p:nvCxnSpPr>
          <p:spPr>
            <a:xfrm>
              <a:off x="814389" y="3128926"/>
              <a:ext cx="1" cy="614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0F77AA6C-4626-DC8E-762F-8B3126361FEF}"/>
                </a:ext>
              </a:extLst>
            </p:cNvPr>
            <p:cNvSpPr txBox="1"/>
            <p:nvPr/>
          </p:nvSpPr>
          <p:spPr>
            <a:xfrm>
              <a:off x="375568" y="2702441"/>
              <a:ext cx="7633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dirty="0"/>
                <a:t>Début</a:t>
              </a:r>
            </a:p>
          </p:txBody>
        </p:sp>
        <p:sp>
          <p:nvSpPr>
            <p:cNvPr id="49" name="ZoneTexte 48">
              <a:extLst>
                <a:ext uri="{FF2B5EF4-FFF2-40B4-BE49-F238E27FC236}">
                  <a16:creationId xmlns:a16="http://schemas.microsoft.com/office/drawing/2014/main" id="{AFD498B7-00FC-8BA6-0D42-A3D1D5253064}"/>
                </a:ext>
              </a:extLst>
            </p:cNvPr>
            <p:cNvSpPr txBox="1"/>
            <p:nvPr/>
          </p:nvSpPr>
          <p:spPr>
            <a:xfrm>
              <a:off x="292897" y="3226077"/>
              <a:ext cx="4643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/>
                <a:t>0</a:t>
              </a:r>
            </a:p>
          </p:txBody>
        </p:sp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6CE6B852-996D-E4F7-ADCB-2ACA08DCA434}"/>
                </a:ext>
              </a:extLst>
            </p:cNvPr>
            <p:cNvSpPr txBox="1"/>
            <p:nvPr/>
          </p:nvSpPr>
          <p:spPr>
            <a:xfrm>
              <a:off x="857255" y="3292282"/>
              <a:ext cx="6500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/>
                <a:t>0</a:t>
              </a:r>
            </a:p>
          </p:txBody>
        </p:sp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704B8ED3-D8CA-182D-9F12-E88C880D7E1D}"/>
                </a:ext>
              </a:extLst>
            </p:cNvPr>
            <p:cNvSpPr/>
            <p:nvPr/>
          </p:nvSpPr>
          <p:spPr>
            <a:xfrm>
              <a:off x="2706088" y="2500274"/>
              <a:ext cx="1300163" cy="122872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52" name="Connecteur droit 51">
              <a:extLst>
                <a:ext uri="{FF2B5EF4-FFF2-40B4-BE49-F238E27FC236}">
                  <a16:creationId xmlns:a16="http://schemas.microsoft.com/office/drawing/2014/main" id="{2BB88BA3-56E0-B472-3854-660CF371CB67}"/>
                </a:ext>
              </a:extLst>
            </p:cNvPr>
            <p:cNvCxnSpPr>
              <a:cxnSpLocks/>
              <a:stCxn id="51" idx="2"/>
              <a:endCxn id="51" idx="6"/>
            </p:cNvCxnSpPr>
            <p:nvPr/>
          </p:nvCxnSpPr>
          <p:spPr>
            <a:xfrm>
              <a:off x="2706088" y="3114637"/>
              <a:ext cx="130016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Connecteur droit 52">
              <a:extLst>
                <a:ext uri="{FF2B5EF4-FFF2-40B4-BE49-F238E27FC236}">
                  <a16:creationId xmlns:a16="http://schemas.microsoft.com/office/drawing/2014/main" id="{B992C0CB-0D61-A4D1-C707-B0C5B17549B0}"/>
                </a:ext>
              </a:extLst>
            </p:cNvPr>
            <p:cNvCxnSpPr>
              <a:endCxn id="51" idx="4"/>
            </p:cNvCxnSpPr>
            <p:nvPr/>
          </p:nvCxnSpPr>
          <p:spPr>
            <a:xfrm>
              <a:off x="3356169" y="3114636"/>
              <a:ext cx="1" cy="614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ZoneTexte 53">
              <a:extLst>
                <a:ext uri="{FF2B5EF4-FFF2-40B4-BE49-F238E27FC236}">
                  <a16:creationId xmlns:a16="http://schemas.microsoft.com/office/drawing/2014/main" id="{151CB1CF-AD46-E5CD-8C37-43B757F0BE8D}"/>
                </a:ext>
              </a:extLst>
            </p:cNvPr>
            <p:cNvSpPr txBox="1"/>
            <p:nvPr/>
          </p:nvSpPr>
          <p:spPr>
            <a:xfrm>
              <a:off x="3188127" y="268815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1</a:t>
              </a:r>
            </a:p>
          </p:txBody>
        </p:sp>
        <p:sp>
          <p:nvSpPr>
            <p:cNvPr id="61" name="ZoneTexte 60">
              <a:extLst>
                <a:ext uri="{FF2B5EF4-FFF2-40B4-BE49-F238E27FC236}">
                  <a16:creationId xmlns:a16="http://schemas.microsoft.com/office/drawing/2014/main" id="{94E3DD9E-A5F9-400B-671F-4226FDE13D81}"/>
                </a:ext>
              </a:extLst>
            </p:cNvPr>
            <p:cNvSpPr txBox="1"/>
            <p:nvPr/>
          </p:nvSpPr>
          <p:spPr>
            <a:xfrm>
              <a:off x="2791817" y="3226077"/>
              <a:ext cx="6500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/>
                <a:t>12</a:t>
              </a:r>
            </a:p>
          </p:txBody>
        </p:sp>
        <p:sp>
          <p:nvSpPr>
            <p:cNvPr id="62" name="ZoneTexte 61">
              <a:extLst>
                <a:ext uri="{FF2B5EF4-FFF2-40B4-BE49-F238E27FC236}">
                  <a16:creationId xmlns:a16="http://schemas.microsoft.com/office/drawing/2014/main" id="{8E5F1664-C9F3-4B5E-D260-86A42C61D399}"/>
                </a:ext>
              </a:extLst>
            </p:cNvPr>
            <p:cNvSpPr txBox="1"/>
            <p:nvPr/>
          </p:nvSpPr>
          <p:spPr>
            <a:xfrm>
              <a:off x="3356176" y="3243231"/>
              <a:ext cx="6500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/>
                <a:t>12</a:t>
              </a:r>
            </a:p>
          </p:txBody>
        </p:sp>
        <p:cxnSp>
          <p:nvCxnSpPr>
            <p:cNvPr id="63" name="Connecteur droit avec flèche 62">
              <a:extLst>
                <a:ext uri="{FF2B5EF4-FFF2-40B4-BE49-F238E27FC236}">
                  <a16:creationId xmlns:a16="http://schemas.microsoft.com/office/drawing/2014/main" id="{089500B7-9DB6-136E-D52A-45BB702335F6}"/>
                </a:ext>
              </a:extLst>
            </p:cNvPr>
            <p:cNvCxnSpPr>
              <a:stCxn id="9" idx="6"/>
              <a:endCxn id="51" idx="2"/>
            </p:cNvCxnSpPr>
            <p:nvPr/>
          </p:nvCxnSpPr>
          <p:spPr>
            <a:xfrm flipV="1">
              <a:off x="1464471" y="3114637"/>
              <a:ext cx="1241617" cy="1429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ZoneTexte 63">
              <a:extLst>
                <a:ext uri="{FF2B5EF4-FFF2-40B4-BE49-F238E27FC236}">
                  <a16:creationId xmlns:a16="http://schemas.microsoft.com/office/drawing/2014/main" id="{794FB574-23D9-8123-D043-D8E7D4654BF6}"/>
                </a:ext>
              </a:extLst>
            </p:cNvPr>
            <p:cNvSpPr txBox="1"/>
            <p:nvPr/>
          </p:nvSpPr>
          <p:spPr>
            <a:xfrm>
              <a:off x="1656882" y="2771017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latin typeface="Book Antiqua" panose="02040602050305030304" pitchFamily="18" charset="0"/>
                </a:rPr>
                <a:t>D12</a:t>
              </a:r>
            </a:p>
          </p:txBody>
        </p:sp>
        <p:sp>
          <p:nvSpPr>
            <p:cNvPr id="65" name="Ellipse 64">
              <a:extLst>
                <a:ext uri="{FF2B5EF4-FFF2-40B4-BE49-F238E27FC236}">
                  <a16:creationId xmlns:a16="http://schemas.microsoft.com/office/drawing/2014/main" id="{9E4196FD-C599-321D-74C5-AB77B30257A1}"/>
                </a:ext>
              </a:extLst>
            </p:cNvPr>
            <p:cNvSpPr/>
            <p:nvPr/>
          </p:nvSpPr>
          <p:spPr>
            <a:xfrm>
              <a:off x="10684664" y="2628110"/>
              <a:ext cx="1300163" cy="122872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66" name="Connecteur droit 65">
              <a:extLst>
                <a:ext uri="{FF2B5EF4-FFF2-40B4-BE49-F238E27FC236}">
                  <a16:creationId xmlns:a16="http://schemas.microsoft.com/office/drawing/2014/main" id="{E6F1EA87-1809-821A-F159-1E3E8F75042D}"/>
                </a:ext>
              </a:extLst>
            </p:cNvPr>
            <p:cNvCxnSpPr>
              <a:cxnSpLocks/>
              <a:stCxn id="65" idx="2"/>
              <a:endCxn id="65" idx="6"/>
            </p:cNvCxnSpPr>
            <p:nvPr/>
          </p:nvCxnSpPr>
          <p:spPr>
            <a:xfrm>
              <a:off x="10684664" y="3242473"/>
              <a:ext cx="130016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Connecteur droit 66">
              <a:extLst>
                <a:ext uri="{FF2B5EF4-FFF2-40B4-BE49-F238E27FC236}">
                  <a16:creationId xmlns:a16="http://schemas.microsoft.com/office/drawing/2014/main" id="{C882CEC7-E5AB-6612-9E3A-268E5046C621}"/>
                </a:ext>
              </a:extLst>
            </p:cNvPr>
            <p:cNvCxnSpPr>
              <a:endCxn id="65" idx="4"/>
            </p:cNvCxnSpPr>
            <p:nvPr/>
          </p:nvCxnSpPr>
          <p:spPr>
            <a:xfrm>
              <a:off x="11334745" y="3242472"/>
              <a:ext cx="1" cy="614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ZoneTexte 67">
              <a:extLst>
                <a:ext uri="{FF2B5EF4-FFF2-40B4-BE49-F238E27FC236}">
                  <a16:creationId xmlns:a16="http://schemas.microsoft.com/office/drawing/2014/main" id="{2AA417D3-1072-17C0-6D29-C8AC345162CE}"/>
                </a:ext>
              </a:extLst>
            </p:cNvPr>
            <p:cNvSpPr txBox="1"/>
            <p:nvPr/>
          </p:nvSpPr>
          <p:spPr>
            <a:xfrm>
              <a:off x="11145013" y="2821279"/>
              <a:ext cx="4651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Fin</a:t>
              </a:r>
            </a:p>
          </p:txBody>
        </p:sp>
        <p:sp>
          <p:nvSpPr>
            <p:cNvPr id="70" name="ZoneTexte 69">
              <a:extLst>
                <a:ext uri="{FF2B5EF4-FFF2-40B4-BE49-F238E27FC236}">
                  <a16:creationId xmlns:a16="http://schemas.microsoft.com/office/drawing/2014/main" id="{939CFC05-1C91-F318-3A0D-227AB148E05A}"/>
                </a:ext>
              </a:extLst>
            </p:cNvPr>
            <p:cNvSpPr txBox="1"/>
            <p:nvPr/>
          </p:nvSpPr>
          <p:spPr>
            <a:xfrm>
              <a:off x="10827212" y="3378891"/>
              <a:ext cx="6500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/>
                <a:t>122</a:t>
              </a:r>
            </a:p>
          </p:txBody>
        </p:sp>
        <p:sp>
          <p:nvSpPr>
            <p:cNvPr id="71" name="ZoneTexte 70">
              <a:extLst>
                <a:ext uri="{FF2B5EF4-FFF2-40B4-BE49-F238E27FC236}">
                  <a16:creationId xmlns:a16="http://schemas.microsoft.com/office/drawing/2014/main" id="{AE92A3D4-B0E8-1A47-4383-B6423C68F253}"/>
                </a:ext>
              </a:extLst>
            </p:cNvPr>
            <p:cNvSpPr txBox="1"/>
            <p:nvPr/>
          </p:nvSpPr>
          <p:spPr>
            <a:xfrm>
              <a:off x="11285165" y="3399443"/>
              <a:ext cx="6500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/>
                <a:t>122</a:t>
              </a:r>
            </a:p>
          </p:txBody>
        </p:sp>
        <p:sp>
          <p:nvSpPr>
            <p:cNvPr id="75" name="Ellipse 74">
              <a:extLst>
                <a:ext uri="{FF2B5EF4-FFF2-40B4-BE49-F238E27FC236}">
                  <a16:creationId xmlns:a16="http://schemas.microsoft.com/office/drawing/2014/main" id="{FDF9D865-F39B-FFE1-70F9-63F65E129912}"/>
                </a:ext>
              </a:extLst>
            </p:cNvPr>
            <p:cNvSpPr/>
            <p:nvPr/>
          </p:nvSpPr>
          <p:spPr>
            <a:xfrm>
              <a:off x="4795837" y="3198328"/>
              <a:ext cx="1300163" cy="122872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B837C26F-7066-377B-065E-0E3F01E19D51}"/>
                </a:ext>
              </a:extLst>
            </p:cNvPr>
            <p:cNvCxnSpPr>
              <a:cxnSpLocks/>
              <a:stCxn id="75" idx="2"/>
              <a:endCxn id="75" idx="6"/>
            </p:cNvCxnSpPr>
            <p:nvPr/>
          </p:nvCxnSpPr>
          <p:spPr>
            <a:xfrm>
              <a:off x="4795837" y="3812691"/>
              <a:ext cx="130016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Connecteur droit 77">
              <a:extLst>
                <a:ext uri="{FF2B5EF4-FFF2-40B4-BE49-F238E27FC236}">
                  <a16:creationId xmlns:a16="http://schemas.microsoft.com/office/drawing/2014/main" id="{3F5219EA-F392-3A70-EEC6-28CCA40BBE4C}"/>
                </a:ext>
              </a:extLst>
            </p:cNvPr>
            <p:cNvCxnSpPr>
              <a:endCxn id="75" idx="4"/>
            </p:cNvCxnSpPr>
            <p:nvPr/>
          </p:nvCxnSpPr>
          <p:spPr>
            <a:xfrm>
              <a:off x="5445918" y="3812690"/>
              <a:ext cx="1" cy="614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ZoneTexte 79">
              <a:extLst>
                <a:ext uri="{FF2B5EF4-FFF2-40B4-BE49-F238E27FC236}">
                  <a16:creationId xmlns:a16="http://schemas.microsoft.com/office/drawing/2014/main" id="{E7D444A4-9509-FEA4-37F4-C687E71CC263}"/>
                </a:ext>
              </a:extLst>
            </p:cNvPr>
            <p:cNvSpPr txBox="1"/>
            <p:nvPr/>
          </p:nvSpPr>
          <p:spPr>
            <a:xfrm>
              <a:off x="5323509" y="337792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2</a:t>
              </a:r>
            </a:p>
          </p:txBody>
        </p:sp>
        <p:sp>
          <p:nvSpPr>
            <p:cNvPr id="81" name="ZoneTexte 80">
              <a:extLst>
                <a:ext uri="{FF2B5EF4-FFF2-40B4-BE49-F238E27FC236}">
                  <a16:creationId xmlns:a16="http://schemas.microsoft.com/office/drawing/2014/main" id="{1BB36AA8-8862-1E2D-E864-E90C20B6ED66}"/>
                </a:ext>
              </a:extLst>
            </p:cNvPr>
            <p:cNvSpPr txBox="1"/>
            <p:nvPr/>
          </p:nvSpPr>
          <p:spPr>
            <a:xfrm>
              <a:off x="4954741" y="3907718"/>
              <a:ext cx="6500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/>
                <a:t>32</a:t>
              </a:r>
            </a:p>
          </p:txBody>
        </p:sp>
        <p:sp>
          <p:nvSpPr>
            <p:cNvPr id="82" name="ZoneTexte 81">
              <a:extLst>
                <a:ext uri="{FF2B5EF4-FFF2-40B4-BE49-F238E27FC236}">
                  <a16:creationId xmlns:a16="http://schemas.microsoft.com/office/drawing/2014/main" id="{2C6C87B2-2257-9114-9136-1C4F62E4862A}"/>
                </a:ext>
              </a:extLst>
            </p:cNvPr>
            <p:cNvSpPr txBox="1"/>
            <p:nvPr/>
          </p:nvSpPr>
          <p:spPr>
            <a:xfrm>
              <a:off x="5388773" y="3869845"/>
              <a:ext cx="6500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/>
                <a:t>32</a:t>
              </a:r>
            </a:p>
          </p:txBody>
        </p:sp>
        <p:sp>
          <p:nvSpPr>
            <p:cNvPr id="83" name="Ellipse 82">
              <a:extLst>
                <a:ext uri="{FF2B5EF4-FFF2-40B4-BE49-F238E27FC236}">
                  <a16:creationId xmlns:a16="http://schemas.microsoft.com/office/drawing/2014/main" id="{64EED4D3-AC9F-0B4F-CC52-560C526E8A2C}"/>
                </a:ext>
              </a:extLst>
            </p:cNvPr>
            <p:cNvSpPr/>
            <p:nvPr/>
          </p:nvSpPr>
          <p:spPr>
            <a:xfrm>
              <a:off x="4463874" y="842931"/>
              <a:ext cx="1300163" cy="122872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85" name="Connecteur droit 84">
              <a:extLst>
                <a:ext uri="{FF2B5EF4-FFF2-40B4-BE49-F238E27FC236}">
                  <a16:creationId xmlns:a16="http://schemas.microsoft.com/office/drawing/2014/main" id="{4968E230-E37D-CB59-E432-3D5584BC8040}"/>
                </a:ext>
              </a:extLst>
            </p:cNvPr>
            <p:cNvCxnSpPr>
              <a:cxnSpLocks/>
              <a:stCxn id="83" idx="2"/>
              <a:endCxn id="83" idx="6"/>
            </p:cNvCxnSpPr>
            <p:nvPr/>
          </p:nvCxnSpPr>
          <p:spPr>
            <a:xfrm>
              <a:off x="4463874" y="1457294"/>
              <a:ext cx="130016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Connecteur droit 86">
              <a:extLst>
                <a:ext uri="{FF2B5EF4-FFF2-40B4-BE49-F238E27FC236}">
                  <a16:creationId xmlns:a16="http://schemas.microsoft.com/office/drawing/2014/main" id="{9FEED572-F2B4-D6B6-A7EA-C602A6C6F559}"/>
                </a:ext>
              </a:extLst>
            </p:cNvPr>
            <p:cNvCxnSpPr>
              <a:endCxn id="83" idx="4"/>
            </p:cNvCxnSpPr>
            <p:nvPr/>
          </p:nvCxnSpPr>
          <p:spPr>
            <a:xfrm>
              <a:off x="5113955" y="1457293"/>
              <a:ext cx="1" cy="614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ZoneTexte 87">
              <a:extLst>
                <a:ext uri="{FF2B5EF4-FFF2-40B4-BE49-F238E27FC236}">
                  <a16:creationId xmlns:a16="http://schemas.microsoft.com/office/drawing/2014/main" id="{4050C328-D835-7990-6BDF-FEE481D86745}"/>
                </a:ext>
              </a:extLst>
            </p:cNvPr>
            <p:cNvSpPr txBox="1"/>
            <p:nvPr/>
          </p:nvSpPr>
          <p:spPr>
            <a:xfrm>
              <a:off x="5004157" y="103080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3</a:t>
              </a:r>
            </a:p>
          </p:txBody>
        </p:sp>
        <p:sp>
          <p:nvSpPr>
            <p:cNvPr id="93" name="ZoneTexte 92">
              <a:extLst>
                <a:ext uri="{FF2B5EF4-FFF2-40B4-BE49-F238E27FC236}">
                  <a16:creationId xmlns:a16="http://schemas.microsoft.com/office/drawing/2014/main" id="{0C546E6F-6763-D532-8B28-DFF145A2F8ED}"/>
                </a:ext>
              </a:extLst>
            </p:cNvPr>
            <p:cNvSpPr txBox="1"/>
            <p:nvPr/>
          </p:nvSpPr>
          <p:spPr>
            <a:xfrm>
              <a:off x="4506739" y="1483006"/>
              <a:ext cx="6500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/>
                <a:t>37</a:t>
              </a:r>
            </a:p>
          </p:txBody>
        </p:sp>
        <p:sp>
          <p:nvSpPr>
            <p:cNvPr id="94" name="ZoneTexte 93">
              <a:extLst>
                <a:ext uri="{FF2B5EF4-FFF2-40B4-BE49-F238E27FC236}">
                  <a16:creationId xmlns:a16="http://schemas.microsoft.com/office/drawing/2014/main" id="{0B9A99D2-3B13-00C3-E18F-3B2871D5717D}"/>
                </a:ext>
              </a:extLst>
            </p:cNvPr>
            <p:cNvSpPr txBox="1"/>
            <p:nvPr/>
          </p:nvSpPr>
          <p:spPr>
            <a:xfrm>
              <a:off x="5056810" y="1514448"/>
              <a:ext cx="6500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/>
                <a:t>95</a:t>
              </a:r>
            </a:p>
          </p:txBody>
        </p:sp>
        <p:sp>
          <p:nvSpPr>
            <p:cNvPr id="95" name="Ellipse 94">
              <a:extLst>
                <a:ext uri="{FF2B5EF4-FFF2-40B4-BE49-F238E27FC236}">
                  <a16:creationId xmlns:a16="http://schemas.microsoft.com/office/drawing/2014/main" id="{470DF764-667E-7DAF-5BD0-7C9ABAAD3BBB}"/>
                </a:ext>
              </a:extLst>
            </p:cNvPr>
            <p:cNvSpPr/>
            <p:nvPr/>
          </p:nvSpPr>
          <p:spPr>
            <a:xfrm>
              <a:off x="7677605" y="842931"/>
              <a:ext cx="1300163" cy="122872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96" name="Connecteur droit 95">
              <a:extLst>
                <a:ext uri="{FF2B5EF4-FFF2-40B4-BE49-F238E27FC236}">
                  <a16:creationId xmlns:a16="http://schemas.microsoft.com/office/drawing/2014/main" id="{70BD1953-AEEB-040D-F41D-2721840265C0}"/>
                </a:ext>
              </a:extLst>
            </p:cNvPr>
            <p:cNvCxnSpPr>
              <a:cxnSpLocks/>
              <a:stCxn id="95" idx="2"/>
              <a:endCxn id="95" idx="6"/>
            </p:cNvCxnSpPr>
            <p:nvPr/>
          </p:nvCxnSpPr>
          <p:spPr>
            <a:xfrm>
              <a:off x="7677605" y="1457294"/>
              <a:ext cx="130016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Connecteur droit 96">
              <a:extLst>
                <a:ext uri="{FF2B5EF4-FFF2-40B4-BE49-F238E27FC236}">
                  <a16:creationId xmlns:a16="http://schemas.microsoft.com/office/drawing/2014/main" id="{4133A0A1-EB3C-5B05-E3E4-1C46FAAF57E3}"/>
                </a:ext>
              </a:extLst>
            </p:cNvPr>
            <p:cNvCxnSpPr>
              <a:endCxn id="95" idx="4"/>
            </p:cNvCxnSpPr>
            <p:nvPr/>
          </p:nvCxnSpPr>
          <p:spPr>
            <a:xfrm>
              <a:off x="8327686" y="1457293"/>
              <a:ext cx="1" cy="614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ZoneTexte 97">
              <a:extLst>
                <a:ext uri="{FF2B5EF4-FFF2-40B4-BE49-F238E27FC236}">
                  <a16:creationId xmlns:a16="http://schemas.microsoft.com/office/drawing/2014/main" id="{2F445AA5-EB05-05F1-2772-6BE76340B22C}"/>
                </a:ext>
              </a:extLst>
            </p:cNvPr>
            <p:cNvSpPr txBox="1"/>
            <p:nvPr/>
          </p:nvSpPr>
          <p:spPr>
            <a:xfrm>
              <a:off x="8204745" y="107224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4</a:t>
              </a:r>
            </a:p>
          </p:txBody>
        </p:sp>
        <p:sp>
          <p:nvSpPr>
            <p:cNvPr id="99" name="ZoneTexte 98">
              <a:extLst>
                <a:ext uri="{FF2B5EF4-FFF2-40B4-BE49-F238E27FC236}">
                  <a16:creationId xmlns:a16="http://schemas.microsoft.com/office/drawing/2014/main" id="{C0AB3710-AE68-3442-9CA0-B07D75F62EC2}"/>
                </a:ext>
              </a:extLst>
            </p:cNvPr>
            <p:cNvSpPr txBox="1"/>
            <p:nvPr/>
          </p:nvSpPr>
          <p:spPr>
            <a:xfrm>
              <a:off x="7777622" y="1611598"/>
              <a:ext cx="6500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/>
                <a:t>47</a:t>
              </a:r>
            </a:p>
          </p:txBody>
        </p:sp>
        <p:sp>
          <p:nvSpPr>
            <p:cNvPr id="100" name="ZoneTexte 99">
              <a:extLst>
                <a:ext uri="{FF2B5EF4-FFF2-40B4-BE49-F238E27FC236}">
                  <a16:creationId xmlns:a16="http://schemas.microsoft.com/office/drawing/2014/main" id="{41B39D88-DA63-4EE6-9CD4-4262174F1C1E}"/>
                </a:ext>
              </a:extLst>
            </p:cNvPr>
            <p:cNvSpPr txBox="1"/>
            <p:nvPr/>
          </p:nvSpPr>
          <p:spPr>
            <a:xfrm>
              <a:off x="8349121" y="1599953"/>
              <a:ext cx="6500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/>
                <a:t>105</a:t>
              </a:r>
            </a:p>
          </p:txBody>
        </p:sp>
        <p:sp>
          <p:nvSpPr>
            <p:cNvPr id="101" name="Ellipse 100">
              <a:extLst>
                <a:ext uri="{FF2B5EF4-FFF2-40B4-BE49-F238E27FC236}">
                  <a16:creationId xmlns:a16="http://schemas.microsoft.com/office/drawing/2014/main" id="{E34C98EE-BD27-FDDA-B631-7472F65D24D0}"/>
                </a:ext>
              </a:extLst>
            </p:cNvPr>
            <p:cNvSpPr/>
            <p:nvPr/>
          </p:nvSpPr>
          <p:spPr>
            <a:xfrm>
              <a:off x="7728439" y="3378891"/>
              <a:ext cx="1300163" cy="122872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02" name="Connecteur droit 101">
              <a:extLst>
                <a:ext uri="{FF2B5EF4-FFF2-40B4-BE49-F238E27FC236}">
                  <a16:creationId xmlns:a16="http://schemas.microsoft.com/office/drawing/2014/main" id="{5DBB972A-49D4-5583-9EC4-C33243CB8811}"/>
                </a:ext>
              </a:extLst>
            </p:cNvPr>
            <p:cNvCxnSpPr>
              <a:cxnSpLocks/>
              <a:stCxn id="101" idx="2"/>
              <a:endCxn id="101" idx="6"/>
            </p:cNvCxnSpPr>
            <p:nvPr/>
          </p:nvCxnSpPr>
          <p:spPr>
            <a:xfrm>
              <a:off x="7728439" y="3993254"/>
              <a:ext cx="130016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Connecteur droit 102">
              <a:extLst>
                <a:ext uri="{FF2B5EF4-FFF2-40B4-BE49-F238E27FC236}">
                  <a16:creationId xmlns:a16="http://schemas.microsoft.com/office/drawing/2014/main" id="{C424B4F2-3F6E-8641-8A5C-347A5CBA5521}"/>
                </a:ext>
              </a:extLst>
            </p:cNvPr>
            <p:cNvCxnSpPr>
              <a:endCxn id="101" idx="4"/>
            </p:cNvCxnSpPr>
            <p:nvPr/>
          </p:nvCxnSpPr>
          <p:spPr>
            <a:xfrm>
              <a:off x="8378520" y="3993253"/>
              <a:ext cx="1" cy="614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ZoneTexte 103">
              <a:extLst>
                <a:ext uri="{FF2B5EF4-FFF2-40B4-BE49-F238E27FC236}">
                  <a16:creationId xmlns:a16="http://schemas.microsoft.com/office/drawing/2014/main" id="{A185F5A3-3B60-23D3-B5DB-5D2E89AC16FC}"/>
                </a:ext>
              </a:extLst>
            </p:cNvPr>
            <p:cNvSpPr txBox="1"/>
            <p:nvPr/>
          </p:nvSpPr>
          <p:spPr>
            <a:xfrm>
              <a:off x="8270541" y="35667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5</a:t>
              </a:r>
            </a:p>
          </p:txBody>
        </p:sp>
        <p:sp>
          <p:nvSpPr>
            <p:cNvPr id="105" name="ZoneTexte 104">
              <a:extLst>
                <a:ext uri="{FF2B5EF4-FFF2-40B4-BE49-F238E27FC236}">
                  <a16:creationId xmlns:a16="http://schemas.microsoft.com/office/drawing/2014/main" id="{8D2A141E-FCB0-AD76-9DE4-CB0410632744}"/>
                </a:ext>
              </a:extLst>
            </p:cNvPr>
            <p:cNvSpPr txBox="1"/>
            <p:nvPr/>
          </p:nvSpPr>
          <p:spPr>
            <a:xfrm>
              <a:off x="7814168" y="4133270"/>
              <a:ext cx="6500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/>
                <a:t>62</a:t>
              </a:r>
            </a:p>
          </p:txBody>
        </p:sp>
        <p:sp>
          <p:nvSpPr>
            <p:cNvPr id="106" name="ZoneTexte 105">
              <a:extLst>
                <a:ext uri="{FF2B5EF4-FFF2-40B4-BE49-F238E27FC236}">
                  <a16:creationId xmlns:a16="http://schemas.microsoft.com/office/drawing/2014/main" id="{57167223-7656-6A0C-A394-6CD8C27D8FCD}"/>
                </a:ext>
              </a:extLst>
            </p:cNvPr>
            <p:cNvSpPr txBox="1"/>
            <p:nvPr/>
          </p:nvSpPr>
          <p:spPr>
            <a:xfrm>
              <a:off x="8344821" y="4113280"/>
              <a:ext cx="6500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dirty="0"/>
                <a:t>62</a:t>
              </a:r>
            </a:p>
          </p:txBody>
        </p:sp>
        <p:cxnSp>
          <p:nvCxnSpPr>
            <p:cNvPr id="107" name="Connecteur droit avec flèche 106">
              <a:extLst>
                <a:ext uri="{FF2B5EF4-FFF2-40B4-BE49-F238E27FC236}">
                  <a16:creationId xmlns:a16="http://schemas.microsoft.com/office/drawing/2014/main" id="{4531B073-C3B0-314F-D301-B064BAA9E8FA}"/>
                </a:ext>
              </a:extLst>
            </p:cNvPr>
            <p:cNvCxnSpPr>
              <a:cxnSpLocks/>
              <a:stCxn id="101" idx="6"/>
            </p:cNvCxnSpPr>
            <p:nvPr/>
          </p:nvCxnSpPr>
          <p:spPr>
            <a:xfrm flipV="1">
              <a:off x="9028602" y="3597614"/>
              <a:ext cx="1798610" cy="39564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cteur droit avec flèche 107">
              <a:extLst>
                <a:ext uri="{FF2B5EF4-FFF2-40B4-BE49-F238E27FC236}">
                  <a16:creationId xmlns:a16="http://schemas.microsoft.com/office/drawing/2014/main" id="{5FDE2A6E-C662-B20F-EDB0-FCABCD5D9F36}"/>
                </a:ext>
              </a:extLst>
            </p:cNvPr>
            <p:cNvCxnSpPr>
              <a:stCxn id="95" idx="6"/>
              <a:endCxn id="65" idx="1"/>
            </p:cNvCxnSpPr>
            <p:nvPr/>
          </p:nvCxnSpPr>
          <p:spPr>
            <a:xfrm>
              <a:off x="8977768" y="1457294"/>
              <a:ext cx="1897300" cy="13507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ZoneTexte 108">
              <a:extLst>
                <a:ext uri="{FF2B5EF4-FFF2-40B4-BE49-F238E27FC236}">
                  <a16:creationId xmlns:a16="http://schemas.microsoft.com/office/drawing/2014/main" id="{B307FE1C-C1C3-70DC-8A81-E8A5343DCF93}"/>
                </a:ext>
              </a:extLst>
            </p:cNvPr>
            <p:cNvSpPr txBox="1"/>
            <p:nvPr/>
          </p:nvSpPr>
          <p:spPr>
            <a:xfrm>
              <a:off x="9761493" y="1634627"/>
              <a:ext cx="5918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latin typeface="Book Antiqua" panose="02040602050305030304" pitchFamily="18" charset="0"/>
                </a:rPr>
                <a:t>G17</a:t>
              </a:r>
            </a:p>
          </p:txBody>
        </p:sp>
        <p:sp>
          <p:nvSpPr>
            <p:cNvPr id="110" name="ZoneTexte 109">
              <a:extLst>
                <a:ext uri="{FF2B5EF4-FFF2-40B4-BE49-F238E27FC236}">
                  <a16:creationId xmlns:a16="http://schemas.microsoft.com/office/drawing/2014/main" id="{D9D8C4A9-3901-D0AC-D4F3-BCF00D33A570}"/>
                </a:ext>
              </a:extLst>
            </p:cNvPr>
            <p:cNvSpPr txBox="1"/>
            <p:nvPr/>
          </p:nvSpPr>
          <p:spPr>
            <a:xfrm>
              <a:off x="9659685" y="3842645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latin typeface="Book Antiqua" panose="02040602050305030304" pitchFamily="18" charset="0"/>
                </a:rPr>
                <a:t>E60</a:t>
              </a:r>
            </a:p>
          </p:txBody>
        </p:sp>
        <p:cxnSp>
          <p:nvCxnSpPr>
            <p:cNvPr id="111" name="Connecteur droit avec flèche 110">
              <a:extLst>
                <a:ext uri="{FF2B5EF4-FFF2-40B4-BE49-F238E27FC236}">
                  <a16:creationId xmlns:a16="http://schemas.microsoft.com/office/drawing/2014/main" id="{9572ECAC-F375-931A-8927-6052CF1FFEE8}"/>
                </a:ext>
              </a:extLst>
            </p:cNvPr>
            <p:cNvCxnSpPr>
              <a:stCxn id="83" idx="6"/>
              <a:endCxn id="95" idx="2"/>
            </p:cNvCxnSpPr>
            <p:nvPr/>
          </p:nvCxnSpPr>
          <p:spPr>
            <a:xfrm>
              <a:off x="5764037" y="1457294"/>
              <a:ext cx="191356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avec flèche 111">
              <a:extLst>
                <a:ext uri="{FF2B5EF4-FFF2-40B4-BE49-F238E27FC236}">
                  <a16:creationId xmlns:a16="http://schemas.microsoft.com/office/drawing/2014/main" id="{F113C798-ECA0-2826-C99E-8452208FDEE1}"/>
                </a:ext>
              </a:extLst>
            </p:cNvPr>
            <p:cNvCxnSpPr>
              <a:cxnSpLocks/>
              <a:stCxn id="75" idx="6"/>
              <a:endCxn id="101" idx="2"/>
            </p:cNvCxnSpPr>
            <p:nvPr/>
          </p:nvCxnSpPr>
          <p:spPr>
            <a:xfrm>
              <a:off x="6096000" y="3812691"/>
              <a:ext cx="1632439" cy="180563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avec flèche 112">
              <a:extLst>
                <a:ext uri="{FF2B5EF4-FFF2-40B4-BE49-F238E27FC236}">
                  <a16:creationId xmlns:a16="http://schemas.microsoft.com/office/drawing/2014/main" id="{6D731DCC-C188-074E-2129-7AB300222126}"/>
                </a:ext>
              </a:extLst>
            </p:cNvPr>
            <p:cNvCxnSpPr>
              <a:cxnSpLocks/>
              <a:stCxn id="51" idx="6"/>
              <a:endCxn id="75" idx="2"/>
            </p:cNvCxnSpPr>
            <p:nvPr/>
          </p:nvCxnSpPr>
          <p:spPr>
            <a:xfrm>
              <a:off x="4006251" y="3114637"/>
              <a:ext cx="789586" cy="698054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necteur droit avec flèche 113">
              <a:extLst>
                <a:ext uri="{FF2B5EF4-FFF2-40B4-BE49-F238E27FC236}">
                  <a16:creationId xmlns:a16="http://schemas.microsoft.com/office/drawing/2014/main" id="{50A4F0FF-243D-0BA1-CD1A-B0728D164FFE}"/>
                </a:ext>
              </a:extLst>
            </p:cNvPr>
            <p:cNvCxnSpPr>
              <a:stCxn id="75" idx="0"/>
              <a:endCxn id="83" idx="4"/>
            </p:cNvCxnSpPr>
            <p:nvPr/>
          </p:nvCxnSpPr>
          <p:spPr>
            <a:xfrm flipH="1" flipV="1">
              <a:off x="5113956" y="2071656"/>
              <a:ext cx="331963" cy="11266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ZoneTexte 114">
              <a:extLst>
                <a:ext uri="{FF2B5EF4-FFF2-40B4-BE49-F238E27FC236}">
                  <a16:creationId xmlns:a16="http://schemas.microsoft.com/office/drawing/2014/main" id="{61C1A304-20DB-AF2C-9674-DE909E1AF31F}"/>
                </a:ext>
              </a:extLst>
            </p:cNvPr>
            <p:cNvSpPr txBox="1"/>
            <p:nvPr/>
          </p:nvSpPr>
          <p:spPr>
            <a:xfrm>
              <a:off x="4252017" y="3110983"/>
              <a:ext cx="5790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latin typeface="Book Antiqua" panose="02040602050305030304" pitchFamily="18" charset="0"/>
                </a:rPr>
                <a:t>C20</a:t>
              </a:r>
            </a:p>
          </p:txBody>
        </p:sp>
        <p:sp>
          <p:nvSpPr>
            <p:cNvPr id="116" name="ZoneTexte 115">
              <a:extLst>
                <a:ext uri="{FF2B5EF4-FFF2-40B4-BE49-F238E27FC236}">
                  <a16:creationId xmlns:a16="http://schemas.microsoft.com/office/drawing/2014/main" id="{020B468A-F551-6E09-622F-C0FDB823725C}"/>
                </a:ext>
              </a:extLst>
            </p:cNvPr>
            <p:cNvSpPr txBox="1"/>
            <p:nvPr/>
          </p:nvSpPr>
          <p:spPr>
            <a:xfrm>
              <a:off x="5315476" y="2333109"/>
              <a:ext cx="4283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latin typeface="Book Antiqua" panose="02040602050305030304" pitchFamily="18" charset="0"/>
                </a:rPr>
                <a:t>F5</a:t>
              </a:r>
            </a:p>
          </p:txBody>
        </p:sp>
        <p:sp>
          <p:nvSpPr>
            <p:cNvPr id="117" name="ZoneTexte 116">
              <a:extLst>
                <a:ext uri="{FF2B5EF4-FFF2-40B4-BE49-F238E27FC236}">
                  <a16:creationId xmlns:a16="http://schemas.microsoft.com/office/drawing/2014/main" id="{605A8210-2D30-E057-749A-3D5492008A5F}"/>
                </a:ext>
              </a:extLst>
            </p:cNvPr>
            <p:cNvSpPr txBox="1"/>
            <p:nvPr/>
          </p:nvSpPr>
          <p:spPr>
            <a:xfrm>
              <a:off x="6685387" y="3586191"/>
              <a:ext cx="5950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latin typeface="Book Antiqua" panose="02040602050305030304" pitchFamily="18" charset="0"/>
                </a:rPr>
                <a:t>A30</a:t>
              </a:r>
            </a:p>
          </p:txBody>
        </p:sp>
        <p:sp>
          <p:nvSpPr>
            <p:cNvPr id="118" name="ZoneTexte 117">
              <a:extLst>
                <a:ext uri="{FF2B5EF4-FFF2-40B4-BE49-F238E27FC236}">
                  <a16:creationId xmlns:a16="http://schemas.microsoft.com/office/drawing/2014/main" id="{F0447779-3F36-F91A-E4B2-5463BF7D01C1}"/>
                </a:ext>
              </a:extLst>
            </p:cNvPr>
            <p:cNvSpPr txBox="1"/>
            <p:nvPr/>
          </p:nvSpPr>
          <p:spPr>
            <a:xfrm>
              <a:off x="6257654" y="1113674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latin typeface="Book Antiqua" panose="02040602050305030304" pitchFamily="18" charset="0"/>
                </a:rPr>
                <a:t>B10</a:t>
              </a:r>
            </a:p>
          </p:txBody>
        </p:sp>
      </p:grpSp>
      <p:sp>
        <p:nvSpPr>
          <p:cNvPr id="119" name="ZoneTexte 118">
            <a:extLst>
              <a:ext uri="{FF2B5EF4-FFF2-40B4-BE49-F238E27FC236}">
                <a16:creationId xmlns:a16="http://schemas.microsoft.com/office/drawing/2014/main" id="{A2D06224-0999-D6CE-29DD-8E61C98E8D59}"/>
              </a:ext>
            </a:extLst>
          </p:cNvPr>
          <p:cNvSpPr txBox="1"/>
          <p:nvPr/>
        </p:nvSpPr>
        <p:spPr>
          <a:xfrm>
            <a:off x="136889" y="6459228"/>
            <a:ext cx="5839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En savoir plus sur le diagramme PERT </a:t>
            </a:r>
            <a:r>
              <a:rPr lang="fr-FR" sz="1400" b="1" u="sng" dirty="0">
                <a:hlinkClick r:id="rId2"/>
              </a:rPr>
              <a:t>dans ce tutoriel</a:t>
            </a:r>
            <a:r>
              <a:rPr lang="fr-F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258484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908</Words>
  <Application>Microsoft Office PowerPoint</Application>
  <PresentationFormat>Grand écran</PresentationFormat>
  <Paragraphs>247</Paragraphs>
  <Slides>7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5" baseType="lpstr">
      <vt:lpstr>Arial</vt:lpstr>
      <vt:lpstr>Book Antiqua</vt:lpstr>
      <vt:lpstr>Calibri</vt:lpstr>
      <vt:lpstr>Calibri Light</vt:lpstr>
      <vt:lpstr>Candara</vt:lpstr>
      <vt:lpstr>Century Gothic</vt:lpstr>
      <vt:lpstr>Symbol</vt:lpstr>
      <vt:lpstr>Thème Office</vt:lpstr>
      <vt:lpstr>Comment créer un diagramme de PERT</vt:lpstr>
      <vt:lpstr>1. Connaitre les règles de notation</vt:lpstr>
      <vt:lpstr>Présentation PowerPoint</vt:lpstr>
      <vt:lpstr>3. Déterminer les prédécesseurs</vt:lpstr>
      <vt:lpstr>4. Déduire les successeurs</vt:lpstr>
      <vt:lpstr>5. Dessiner le réseau PERT </vt:lpstr>
      <vt:lpstr>6. Définir le chemin critique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Blog Gestion de Projet</dc:creator>
  <cp:lastModifiedBy>samir.ouarrak@outlook.com</cp:lastModifiedBy>
  <cp:revision>76</cp:revision>
  <dcterms:created xsi:type="dcterms:W3CDTF">2022-08-24T08:43:54Z</dcterms:created>
  <dcterms:modified xsi:type="dcterms:W3CDTF">2023-08-30T12:42:06Z</dcterms:modified>
</cp:coreProperties>
</file>